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6" r:id="rId7"/>
    <p:sldId id="268" r:id="rId8"/>
    <p:sldId id="261" r:id="rId9"/>
    <p:sldId id="269" r:id="rId10"/>
    <p:sldId id="262" r:id="rId11"/>
    <p:sldId id="270" r:id="rId12"/>
    <p:sldId id="265" r:id="rId13"/>
    <p:sldId id="263" r:id="rId14"/>
  </p:sldIdLst>
  <p:sldSz cx="18288000" cy="10287000"/>
  <p:notesSz cx="6858000" cy="9144000"/>
  <p:embeddedFontLst>
    <p:embeddedFont>
      <p:font typeface="Consolas" panose="020B0609020204030204" pitchFamily="49" charset="0"/>
      <p:regular r:id="rId16"/>
      <p:bold r:id="rId17"/>
      <p:italic r:id="rId18"/>
      <p:boldItalic r:id="rId19"/>
    </p:embeddedFont>
    <p:embeddedFont>
      <p:font typeface="HK Modular" panose="020B0604020202020204" charset="0"/>
      <p:regular r:id="rId20"/>
    </p:embeddedFont>
    <p:embeddedFont>
      <p:font typeface="Poppins" panose="00000500000000000000" pitchFamily="2" charset="0"/>
      <p:regular r:id="rId21"/>
      <p:bold r:id="rId22"/>
      <p:italic r:id="rId23"/>
      <p:boldItalic r:id="rId24"/>
    </p:embeddedFont>
    <p:embeddedFont>
      <p:font typeface="Poppins Bold" panose="00000800000000000000" charset="0"/>
      <p:regular r:id="rId25"/>
      <p:bold r:id="rId26"/>
    </p:embeddedFont>
    <p:embeddedFont>
      <p:font typeface="Poppins Light" panose="00000400000000000000" pitchFamily="2" charset="0"/>
      <p:regular r:id="rId27"/>
      <p:italic r:id="rId28"/>
    </p:embeddedFont>
    <p:embeddedFont>
      <p:font typeface="Poppins Semi-Bold"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25EAC8-17C0-468D-972B-C0B9195F80CE}" v="10" dt="2026-04-25T07:08:24.9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URESH BAGAYATKAR" userId="c83c15ce-67ab-405b-a9c3-d7ac4c965036" providerId="ADAL" clId="{A9762FAA-2B4F-451F-9327-D1E397655CC4}"/>
    <pc:docChg chg="undo custSel addSld delSld modSld">
      <pc:chgData name="GAURESH BAGAYATKAR" userId="c83c15ce-67ab-405b-a9c3-d7ac4c965036" providerId="ADAL" clId="{A9762FAA-2B4F-451F-9327-D1E397655CC4}" dt="2026-04-25T07:09:54.897" v="216" actId="6549"/>
      <pc:docMkLst>
        <pc:docMk/>
      </pc:docMkLst>
      <pc:sldChg chg="delSp modSp mod">
        <pc:chgData name="GAURESH BAGAYATKAR" userId="c83c15ce-67ab-405b-a9c3-d7ac4c965036" providerId="ADAL" clId="{A9762FAA-2B4F-451F-9327-D1E397655CC4}" dt="2026-04-25T07:05:24.341" v="63"/>
        <pc:sldMkLst>
          <pc:docMk/>
          <pc:sldMk cId="0" sldId="261"/>
        </pc:sldMkLst>
        <pc:spChg chg="mod">
          <ac:chgData name="GAURESH BAGAYATKAR" userId="c83c15ce-67ab-405b-a9c3-d7ac4c965036" providerId="ADAL" clId="{A9762FAA-2B4F-451F-9327-D1E397655CC4}" dt="2026-04-25T07:04:51.096" v="50" actId="1037"/>
          <ac:spMkLst>
            <pc:docMk/>
            <pc:sldMk cId="0" sldId="261"/>
            <ac:spMk id="26" creationId="{00000000-0000-0000-0000-000000000000}"/>
          </ac:spMkLst>
        </pc:spChg>
        <pc:spChg chg="mod">
          <ac:chgData name="GAURESH BAGAYATKAR" userId="c83c15ce-67ab-405b-a9c3-d7ac4c965036" providerId="ADAL" clId="{A9762FAA-2B4F-451F-9327-D1E397655CC4}" dt="2026-04-25T07:05:08.826" v="60" actId="14100"/>
          <ac:spMkLst>
            <pc:docMk/>
            <pc:sldMk cId="0" sldId="261"/>
            <ac:spMk id="27" creationId="{00000000-0000-0000-0000-000000000000}"/>
          </ac:spMkLst>
        </pc:spChg>
        <pc:spChg chg="del">
          <ac:chgData name="GAURESH BAGAYATKAR" userId="c83c15ce-67ab-405b-a9c3-d7ac4c965036" providerId="ADAL" clId="{A9762FAA-2B4F-451F-9327-D1E397655CC4}" dt="2026-04-25T07:03:38.294" v="22" actId="478"/>
          <ac:spMkLst>
            <pc:docMk/>
            <pc:sldMk cId="0" sldId="261"/>
            <ac:spMk id="28" creationId="{00000000-0000-0000-0000-000000000000}"/>
          </ac:spMkLst>
        </pc:spChg>
        <pc:spChg chg="del mod">
          <ac:chgData name="GAURESH BAGAYATKAR" userId="c83c15ce-67ab-405b-a9c3-d7ac4c965036" providerId="ADAL" clId="{A9762FAA-2B4F-451F-9327-D1E397655CC4}" dt="2026-04-25T07:03:36.900" v="21" actId="478"/>
          <ac:spMkLst>
            <pc:docMk/>
            <pc:sldMk cId="0" sldId="261"/>
            <ac:spMk id="29" creationId="{00000000-0000-0000-0000-000000000000}"/>
          </ac:spMkLst>
        </pc:spChg>
        <pc:spChg chg="mod">
          <ac:chgData name="GAURESH BAGAYATKAR" userId="c83c15ce-67ab-405b-a9c3-d7ac4c965036" providerId="ADAL" clId="{A9762FAA-2B4F-451F-9327-D1E397655CC4}" dt="2026-04-25T07:05:12.027" v="61" actId="1076"/>
          <ac:spMkLst>
            <pc:docMk/>
            <pc:sldMk cId="0" sldId="261"/>
            <ac:spMk id="33" creationId="{00000000-0000-0000-0000-000000000000}"/>
          </ac:spMkLst>
        </pc:spChg>
        <pc:spChg chg="mod">
          <ac:chgData name="GAURESH BAGAYATKAR" userId="c83c15ce-67ab-405b-a9c3-d7ac4c965036" providerId="ADAL" clId="{A9762FAA-2B4F-451F-9327-D1E397655CC4}" dt="2026-04-25T07:05:24.341" v="63"/>
          <ac:spMkLst>
            <pc:docMk/>
            <pc:sldMk cId="0" sldId="261"/>
            <ac:spMk id="34" creationId="{00000000-0000-0000-0000-000000000000}"/>
          </ac:spMkLst>
        </pc:spChg>
        <pc:grpChg chg="mod">
          <ac:chgData name="GAURESH BAGAYATKAR" userId="c83c15ce-67ab-405b-a9c3-d7ac4c965036" providerId="ADAL" clId="{A9762FAA-2B4F-451F-9327-D1E397655CC4}" dt="2026-04-25T07:03:42.593" v="24" actId="14100"/>
          <ac:grpSpMkLst>
            <pc:docMk/>
            <pc:sldMk cId="0" sldId="261"/>
            <ac:grpSpMk id="15" creationId="{00000000-0000-0000-0000-000000000000}"/>
          </ac:grpSpMkLst>
        </pc:grpChg>
        <pc:grpChg chg="del">
          <ac:chgData name="GAURESH BAGAYATKAR" userId="c83c15ce-67ab-405b-a9c3-d7ac4c965036" providerId="ADAL" clId="{A9762FAA-2B4F-451F-9327-D1E397655CC4}" dt="2026-04-25T07:03:39.645" v="23" actId="478"/>
          <ac:grpSpMkLst>
            <pc:docMk/>
            <pc:sldMk cId="0" sldId="261"/>
            <ac:grpSpMk id="18" creationId="{00000000-0000-0000-0000-000000000000}"/>
          </ac:grpSpMkLst>
        </pc:grpChg>
        <pc:grpChg chg="mod">
          <ac:chgData name="GAURESH BAGAYATKAR" userId="c83c15ce-67ab-405b-a9c3-d7ac4c965036" providerId="ADAL" clId="{A9762FAA-2B4F-451F-9327-D1E397655CC4}" dt="2026-04-25T07:03:53.796" v="27" actId="1076"/>
          <ac:grpSpMkLst>
            <pc:docMk/>
            <pc:sldMk cId="0" sldId="261"/>
            <ac:grpSpMk id="30" creationId="{00000000-0000-0000-0000-000000000000}"/>
          </ac:grpSpMkLst>
        </pc:grpChg>
      </pc:sldChg>
      <pc:sldChg chg="addSp delSp modSp add del mod setBg">
        <pc:chgData name="GAURESH BAGAYATKAR" userId="c83c15ce-67ab-405b-a9c3-d7ac4c965036" providerId="ADAL" clId="{A9762FAA-2B4F-451F-9327-D1E397655CC4}" dt="2026-04-25T07:07:47.728" v="169" actId="6549"/>
        <pc:sldMkLst>
          <pc:docMk/>
          <pc:sldMk cId="0" sldId="262"/>
        </pc:sldMkLst>
        <pc:spChg chg="mod">
          <ac:chgData name="GAURESH BAGAYATKAR" userId="c83c15ce-67ab-405b-a9c3-d7ac4c965036" providerId="ADAL" clId="{A9762FAA-2B4F-451F-9327-D1E397655CC4}" dt="2026-04-25T07:07:10.307" v="90" actId="207"/>
          <ac:spMkLst>
            <pc:docMk/>
            <pc:sldMk cId="0" sldId="262"/>
            <ac:spMk id="2" creationId="{00000000-0000-0000-0000-000000000000}"/>
          </ac:spMkLst>
        </pc:spChg>
        <pc:spChg chg="mod">
          <ac:chgData name="GAURESH BAGAYATKAR" userId="c83c15ce-67ab-405b-a9c3-d7ac4c965036" providerId="ADAL" clId="{A9762FAA-2B4F-451F-9327-D1E397655CC4}" dt="2026-04-25T07:07:10.307" v="90" actId="207"/>
          <ac:spMkLst>
            <pc:docMk/>
            <pc:sldMk cId="0" sldId="262"/>
            <ac:spMk id="3" creationId="{00000000-0000-0000-0000-000000000000}"/>
          </ac:spMkLst>
        </pc:spChg>
        <pc:spChg chg="mod">
          <ac:chgData name="GAURESH BAGAYATKAR" userId="c83c15ce-67ab-405b-a9c3-d7ac4c965036" providerId="ADAL" clId="{A9762FAA-2B4F-451F-9327-D1E397655CC4}" dt="2026-04-25T07:07:04.868" v="83" actId="1076"/>
          <ac:spMkLst>
            <pc:docMk/>
            <pc:sldMk cId="0" sldId="262"/>
            <ac:spMk id="4" creationId="{00000000-0000-0000-0000-000000000000}"/>
          </ac:spMkLst>
        </pc:spChg>
        <pc:spChg chg="mod">
          <ac:chgData name="GAURESH BAGAYATKAR" userId="c83c15ce-67ab-405b-a9c3-d7ac4c965036" providerId="ADAL" clId="{A9762FAA-2B4F-451F-9327-D1E397655CC4}" dt="2026-04-25T07:07:10.307" v="90" actId="207"/>
          <ac:spMkLst>
            <pc:docMk/>
            <pc:sldMk cId="0" sldId="262"/>
            <ac:spMk id="5" creationId="{00000000-0000-0000-0000-000000000000}"/>
          </ac:spMkLst>
        </pc:spChg>
        <pc:spChg chg="add del">
          <ac:chgData name="GAURESH BAGAYATKAR" userId="c83c15ce-67ab-405b-a9c3-d7ac4c965036" providerId="ADAL" clId="{A9762FAA-2B4F-451F-9327-D1E397655CC4}" dt="2026-04-25T07:07:06.766" v="89" actId="478"/>
          <ac:spMkLst>
            <pc:docMk/>
            <pc:sldMk cId="0" sldId="262"/>
            <ac:spMk id="6" creationId="{00000000-0000-0000-0000-000000000000}"/>
          </ac:spMkLst>
        </pc:spChg>
        <pc:spChg chg="add del mod">
          <ac:chgData name="GAURESH BAGAYATKAR" userId="c83c15ce-67ab-405b-a9c3-d7ac4c965036" providerId="ADAL" clId="{A9762FAA-2B4F-451F-9327-D1E397655CC4}" dt="2026-04-25T07:07:36.410" v="113" actId="20577"/>
          <ac:spMkLst>
            <pc:docMk/>
            <pc:sldMk cId="0" sldId="262"/>
            <ac:spMk id="7" creationId="{00000000-0000-0000-0000-000000000000}"/>
          </ac:spMkLst>
        </pc:spChg>
        <pc:spChg chg="mod">
          <ac:chgData name="GAURESH BAGAYATKAR" userId="c83c15ce-67ab-405b-a9c3-d7ac4c965036" providerId="ADAL" clId="{A9762FAA-2B4F-451F-9327-D1E397655CC4}" dt="2026-04-25T07:07:10.307" v="90" actId="207"/>
          <ac:spMkLst>
            <pc:docMk/>
            <pc:sldMk cId="0" sldId="262"/>
            <ac:spMk id="8" creationId="{00000000-0000-0000-0000-000000000000}"/>
          </ac:spMkLst>
        </pc:spChg>
        <pc:spChg chg="add del mod">
          <ac:chgData name="GAURESH BAGAYATKAR" userId="c83c15ce-67ab-405b-a9c3-d7ac4c965036" providerId="ADAL" clId="{A9762FAA-2B4F-451F-9327-D1E397655CC4}" dt="2026-04-25T07:07:47.728" v="169" actId="6549"/>
          <ac:spMkLst>
            <pc:docMk/>
            <pc:sldMk cId="0" sldId="262"/>
            <ac:spMk id="9" creationId="{00000000-0000-0000-0000-000000000000}"/>
          </ac:spMkLst>
        </pc:spChg>
        <pc:spChg chg="mod">
          <ac:chgData name="GAURESH BAGAYATKAR" userId="c83c15ce-67ab-405b-a9c3-d7ac4c965036" providerId="ADAL" clId="{A9762FAA-2B4F-451F-9327-D1E397655CC4}" dt="2026-04-25T07:07:10.307" v="90" actId="207"/>
          <ac:spMkLst>
            <pc:docMk/>
            <pc:sldMk cId="0" sldId="262"/>
            <ac:spMk id="10" creationId="{00000000-0000-0000-0000-000000000000}"/>
          </ac:spMkLst>
        </pc:spChg>
        <pc:spChg chg="mod">
          <ac:chgData name="GAURESH BAGAYATKAR" userId="c83c15ce-67ab-405b-a9c3-d7ac4c965036" providerId="ADAL" clId="{A9762FAA-2B4F-451F-9327-D1E397655CC4}" dt="2026-04-25T07:07:10.307" v="90" actId="207"/>
          <ac:spMkLst>
            <pc:docMk/>
            <pc:sldMk cId="0" sldId="262"/>
            <ac:spMk id="11" creationId="{00000000-0000-0000-0000-000000000000}"/>
          </ac:spMkLst>
        </pc:spChg>
        <pc:spChg chg="mod">
          <ac:chgData name="GAURESH BAGAYATKAR" userId="c83c15ce-67ab-405b-a9c3-d7ac4c965036" providerId="ADAL" clId="{A9762FAA-2B4F-451F-9327-D1E397655CC4}" dt="2026-04-25T07:07:10.307" v="90" actId="207"/>
          <ac:spMkLst>
            <pc:docMk/>
            <pc:sldMk cId="0" sldId="262"/>
            <ac:spMk id="12" creationId="{00000000-0000-0000-0000-000000000000}"/>
          </ac:spMkLst>
        </pc:spChg>
        <pc:spChg chg="mod">
          <ac:chgData name="GAURESH BAGAYATKAR" userId="c83c15ce-67ab-405b-a9c3-d7ac4c965036" providerId="ADAL" clId="{A9762FAA-2B4F-451F-9327-D1E397655CC4}" dt="2026-04-25T07:07:10.307" v="90" actId="207"/>
          <ac:spMkLst>
            <pc:docMk/>
            <pc:sldMk cId="0" sldId="262"/>
            <ac:spMk id="13" creationId="{00000000-0000-0000-0000-000000000000}"/>
          </ac:spMkLst>
        </pc:spChg>
        <pc:spChg chg="add mod ord">
          <ac:chgData name="GAURESH BAGAYATKAR" userId="c83c15ce-67ab-405b-a9c3-d7ac4c965036" providerId="ADAL" clId="{A9762FAA-2B4F-451F-9327-D1E397655CC4}" dt="2026-04-25T07:06:58.448" v="80" actId="1076"/>
          <ac:spMkLst>
            <pc:docMk/>
            <pc:sldMk cId="0" sldId="262"/>
            <ac:spMk id="14" creationId="{B9685CF1-F780-D073-AA4A-48F5F968473B}"/>
          </ac:spMkLst>
        </pc:spChg>
      </pc:sldChg>
      <pc:sldChg chg="del">
        <pc:chgData name="GAURESH BAGAYATKAR" userId="c83c15ce-67ab-405b-a9c3-d7ac4c965036" providerId="ADAL" clId="{A9762FAA-2B4F-451F-9327-D1E397655CC4}" dt="2026-04-25T07:05:47.177" v="64" actId="47"/>
        <pc:sldMkLst>
          <pc:docMk/>
          <pc:sldMk cId="1754779735" sldId="264"/>
        </pc:sldMkLst>
      </pc:sldChg>
      <pc:sldChg chg="addSp delSp modSp mod">
        <pc:chgData name="GAURESH BAGAYATKAR" userId="c83c15ce-67ab-405b-a9c3-d7ac4c965036" providerId="ADAL" clId="{A9762FAA-2B4F-451F-9327-D1E397655CC4}" dt="2026-04-25T07:03:08.947" v="17" actId="1076"/>
        <pc:sldMkLst>
          <pc:docMk/>
          <pc:sldMk cId="1184429016" sldId="266"/>
        </pc:sldMkLst>
        <pc:picChg chg="add mod">
          <ac:chgData name="GAURESH BAGAYATKAR" userId="c83c15ce-67ab-405b-a9c3-d7ac4c965036" providerId="ADAL" clId="{A9762FAA-2B4F-451F-9327-D1E397655CC4}" dt="2026-04-25T07:02:41.203" v="12" actId="14100"/>
          <ac:picMkLst>
            <pc:docMk/>
            <pc:sldMk cId="1184429016" sldId="266"/>
            <ac:picMk id="23" creationId="{7B20231E-7D4C-BAF2-16BC-55EE18CBBD36}"/>
          </ac:picMkLst>
        </pc:picChg>
        <pc:picChg chg="del">
          <ac:chgData name="GAURESH BAGAYATKAR" userId="c83c15ce-67ab-405b-a9c3-d7ac4c965036" providerId="ADAL" clId="{A9762FAA-2B4F-451F-9327-D1E397655CC4}" dt="2026-04-25T07:02:33.044" v="8" actId="478"/>
          <ac:picMkLst>
            <pc:docMk/>
            <pc:sldMk cId="1184429016" sldId="266"/>
            <ac:picMk id="26" creationId="{D0AD4C1A-854B-0D27-3781-D7FAB6453170}"/>
          </ac:picMkLst>
        </pc:picChg>
        <pc:picChg chg="del">
          <ac:chgData name="GAURESH BAGAYATKAR" userId="c83c15ce-67ab-405b-a9c3-d7ac4c965036" providerId="ADAL" clId="{A9762FAA-2B4F-451F-9327-D1E397655CC4}" dt="2026-04-25T07:02:37.927" v="11" actId="478"/>
          <ac:picMkLst>
            <pc:docMk/>
            <pc:sldMk cId="1184429016" sldId="266"/>
            <ac:picMk id="27" creationId="{450490F0-97B7-95D7-EA27-F3FDA1B133E8}"/>
          </ac:picMkLst>
        </pc:picChg>
        <pc:picChg chg="add mod modCrop">
          <ac:chgData name="GAURESH BAGAYATKAR" userId="c83c15ce-67ab-405b-a9c3-d7ac4c965036" providerId="ADAL" clId="{A9762FAA-2B4F-451F-9327-D1E397655CC4}" dt="2026-04-25T07:03:08.947" v="17" actId="1076"/>
          <ac:picMkLst>
            <pc:docMk/>
            <pc:sldMk cId="1184429016" sldId="266"/>
            <ac:picMk id="28" creationId="{1F3C8739-8E7A-23C5-11B7-8B7377E46CC9}"/>
          </ac:picMkLst>
        </pc:picChg>
      </pc:sldChg>
      <pc:sldChg chg="delSp modSp del mod">
        <pc:chgData name="GAURESH BAGAYATKAR" userId="c83c15ce-67ab-405b-a9c3-d7ac4c965036" providerId="ADAL" clId="{A9762FAA-2B4F-451F-9327-D1E397655CC4}" dt="2026-04-25T07:03:16.169" v="19" actId="47"/>
        <pc:sldMkLst>
          <pc:docMk/>
          <pc:sldMk cId="4124593870" sldId="267"/>
        </pc:sldMkLst>
        <pc:spChg chg="del">
          <ac:chgData name="GAURESH BAGAYATKAR" userId="c83c15ce-67ab-405b-a9c3-d7ac4c965036" providerId="ADAL" clId="{A9762FAA-2B4F-451F-9327-D1E397655CC4}" dt="2026-04-25T07:03:13.570" v="18" actId="478"/>
          <ac:spMkLst>
            <pc:docMk/>
            <pc:sldMk cId="4124593870" sldId="267"/>
            <ac:spMk id="2" creationId="{E2D617DA-E0CC-4C7D-6559-D1F7D8477E84}"/>
          </ac:spMkLst>
        </pc:spChg>
      </pc:sldChg>
      <pc:sldChg chg="addSp modSp add mod setBg">
        <pc:chgData name="GAURESH BAGAYATKAR" userId="c83c15ce-67ab-405b-a9c3-d7ac4c965036" providerId="ADAL" clId="{A9762FAA-2B4F-451F-9327-D1E397655CC4}" dt="2026-04-25T07:07:26.373" v="93" actId="20577"/>
        <pc:sldMkLst>
          <pc:docMk/>
          <pc:sldMk cId="0" sldId="269"/>
        </pc:sldMkLst>
        <pc:spChg chg="mod">
          <ac:chgData name="GAURESH BAGAYATKAR" userId="c83c15ce-67ab-405b-a9c3-d7ac4c965036" providerId="ADAL" clId="{A9762FAA-2B4F-451F-9327-D1E397655CC4}" dt="2026-04-25T07:07:26.373" v="93" actId="20577"/>
          <ac:spMkLst>
            <pc:docMk/>
            <pc:sldMk cId="0" sldId="269"/>
            <ac:spMk id="26" creationId="{00000000-0000-0000-0000-000000000000}"/>
          </ac:spMkLst>
        </pc:spChg>
        <pc:spChg chg="add mod ord">
          <ac:chgData name="GAURESH BAGAYATKAR" userId="c83c15ce-67ab-405b-a9c3-d7ac4c965036" providerId="ADAL" clId="{A9762FAA-2B4F-451F-9327-D1E397655CC4}" dt="2026-04-25T07:06:16.722" v="70" actId="1076"/>
          <ac:spMkLst>
            <pc:docMk/>
            <pc:sldMk cId="0" sldId="269"/>
            <ac:spMk id="35" creationId="{6CDE8F85-AF9E-DC11-DF97-5A8FE65FF0AB}"/>
          </ac:spMkLst>
        </pc:spChg>
      </pc:sldChg>
      <pc:sldChg chg="addSp modSp add mod setBg">
        <pc:chgData name="GAURESH BAGAYATKAR" userId="c83c15ce-67ab-405b-a9c3-d7ac4c965036" providerId="ADAL" clId="{A9762FAA-2B4F-451F-9327-D1E397655CC4}" dt="2026-04-25T07:09:54.897" v="216" actId="6549"/>
        <pc:sldMkLst>
          <pc:docMk/>
          <pc:sldMk cId="0" sldId="270"/>
        </pc:sldMkLst>
        <pc:spChg chg="mod">
          <ac:chgData name="GAURESH BAGAYATKAR" userId="c83c15ce-67ab-405b-a9c3-d7ac4c965036" providerId="ADAL" clId="{A9762FAA-2B4F-451F-9327-D1E397655CC4}" dt="2026-04-25T07:09:31.211" v="203" actId="14100"/>
          <ac:spMkLst>
            <pc:docMk/>
            <pc:sldMk cId="0" sldId="270"/>
            <ac:spMk id="3" creationId="{00000000-0000-0000-0000-000000000000}"/>
          </ac:spMkLst>
        </pc:spChg>
        <pc:spChg chg="mod">
          <ac:chgData name="GAURESH BAGAYATKAR" userId="c83c15ce-67ab-405b-a9c3-d7ac4c965036" providerId="ADAL" clId="{A9762FAA-2B4F-451F-9327-D1E397655CC4}" dt="2026-04-25T07:09:44.092" v="212" actId="403"/>
          <ac:spMkLst>
            <pc:docMk/>
            <pc:sldMk cId="0" sldId="270"/>
            <ac:spMk id="5" creationId="{00000000-0000-0000-0000-000000000000}"/>
          </ac:spMkLst>
        </pc:spChg>
        <pc:spChg chg="mod">
          <ac:chgData name="GAURESH BAGAYATKAR" userId="c83c15ce-67ab-405b-a9c3-d7ac4c965036" providerId="ADAL" clId="{A9762FAA-2B4F-451F-9327-D1E397655CC4}" dt="2026-04-25T07:09:54.897" v="216" actId="6549"/>
          <ac:spMkLst>
            <pc:docMk/>
            <pc:sldMk cId="0" sldId="270"/>
            <ac:spMk id="6" creationId="{00000000-0000-0000-0000-000000000000}"/>
          </ac:spMkLst>
        </pc:spChg>
        <pc:spChg chg="add mod ord">
          <ac:chgData name="GAURESH BAGAYATKAR" userId="c83c15ce-67ab-405b-a9c3-d7ac4c965036" providerId="ADAL" clId="{A9762FAA-2B4F-451F-9327-D1E397655CC4}" dt="2026-04-25T07:08:26.864" v="172" actId="167"/>
          <ac:spMkLst>
            <pc:docMk/>
            <pc:sldMk cId="0" sldId="270"/>
            <ac:spMk id="7" creationId="{07B58BFE-E30C-D99D-4B7E-40590156722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3108C6-ED93-44F3-8B05-21507C62DE33}" type="datetimeFigureOut">
              <a:rPr lang="en-IN" smtClean="0"/>
              <a:t>25-04-2026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8CBFBB-8967-4B4E-B911-2DA8EA2A5600}" type="slidenum">
              <a:rPr lang="en-IN" smtClean="0"/>
              <a:t>‹#›</a:t>
            </a:fld>
            <a:endParaRPr lang="en-IN"/>
          </a:p>
        </p:txBody>
      </p:sp>
    </p:spTree>
    <p:extLst>
      <p:ext uri="{BB962C8B-B14F-4D97-AF65-F5344CB8AC3E}">
        <p14:creationId xmlns:p14="http://schemas.microsoft.com/office/powerpoint/2010/main" val="543682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5570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hyperlink" Target="https://doi.org/10.1177/1872498125133073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5555" b="-5555"/>
            </a:stretch>
          </a:blipFill>
        </p:spPr>
      </p:sp>
      <p:grpSp>
        <p:nvGrpSpPr>
          <p:cNvPr id="3" name="Group 3"/>
          <p:cNvGrpSpPr/>
          <p:nvPr/>
        </p:nvGrpSpPr>
        <p:grpSpPr>
          <a:xfrm>
            <a:off x="-144835" y="-547517"/>
            <a:ext cx="9030960" cy="11146926"/>
            <a:chOff x="0" y="0"/>
            <a:chExt cx="2378524" cy="2935816"/>
          </a:xfrm>
        </p:grpSpPr>
        <p:sp>
          <p:nvSpPr>
            <p:cNvPr id="4" name="Freeform 4"/>
            <p:cNvSpPr/>
            <p:nvPr/>
          </p:nvSpPr>
          <p:spPr>
            <a:xfrm>
              <a:off x="0" y="0"/>
              <a:ext cx="2378524" cy="2935816"/>
            </a:xfrm>
            <a:custGeom>
              <a:avLst/>
              <a:gdLst/>
              <a:ahLst/>
              <a:cxnLst/>
              <a:rect l="l" t="t" r="r" b="b"/>
              <a:pathLst>
                <a:path w="2378524" h="2935816">
                  <a:moveTo>
                    <a:pt x="0" y="0"/>
                  </a:moveTo>
                  <a:lnTo>
                    <a:pt x="2378524" y="0"/>
                  </a:lnTo>
                  <a:lnTo>
                    <a:pt x="2378524" y="2935816"/>
                  </a:lnTo>
                  <a:lnTo>
                    <a:pt x="0" y="2935816"/>
                  </a:lnTo>
                  <a:close/>
                </a:path>
              </a:pathLst>
            </a:custGeom>
            <a:gradFill rotWithShape="1">
              <a:gsLst>
                <a:gs pos="0">
                  <a:srgbClr val="071121">
                    <a:alpha val="100000"/>
                  </a:srgbClr>
                </a:gs>
                <a:gs pos="50000">
                  <a:srgbClr val="060F1F">
                    <a:alpha val="78500"/>
                  </a:srgbClr>
                </a:gs>
                <a:gs pos="100000">
                  <a:srgbClr val="060F1F">
                    <a:alpha val="0"/>
                  </a:srgbClr>
                </a:gs>
              </a:gsLst>
              <a:lin ang="0"/>
            </a:gradFill>
          </p:spPr>
        </p:sp>
        <p:sp>
          <p:nvSpPr>
            <p:cNvPr id="5" name="TextBox 5"/>
            <p:cNvSpPr txBox="1"/>
            <p:nvPr/>
          </p:nvSpPr>
          <p:spPr>
            <a:xfrm>
              <a:off x="0" y="0"/>
              <a:ext cx="2378524" cy="2935816"/>
            </a:xfrm>
            <a:prstGeom prst="rect">
              <a:avLst/>
            </a:prstGeom>
          </p:spPr>
          <p:txBody>
            <a:bodyPr lIns="50800" tIns="50800" rIns="50800" bIns="50800" rtlCol="0" anchor="ctr"/>
            <a:lstStyle/>
            <a:p>
              <a:pPr algn="ctr">
                <a:lnSpc>
                  <a:spcPts val="1917"/>
                </a:lnSpc>
              </a:pPr>
              <a:endParaRPr/>
            </a:p>
          </p:txBody>
        </p:sp>
      </p:grpSp>
      <p:grpSp>
        <p:nvGrpSpPr>
          <p:cNvPr id="6" name="Group 6"/>
          <p:cNvGrpSpPr/>
          <p:nvPr/>
        </p:nvGrpSpPr>
        <p:grpSpPr>
          <a:xfrm>
            <a:off x="862708" y="795954"/>
            <a:ext cx="331984" cy="202810"/>
            <a:chOff x="0" y="0"/>
            <a:chExt cx="442646" cy="270414"/>
          </a:xfrm>
        </p:grpSpPr>
        <p:grpSp>
          <p:nvGrpSpPr>
            <p:cNvPr id="7" name="Group 7"/>
            <p:cNvGrpSpPr/>
            <p:nvPr/>
          </p:nvGrpSpPr>
          <p:grpSpPr>
            <a:xfrm>
              <a:off x="0" y="0"/>
              <a:ext cx="442646" cy="63500"/>
              <a:chOff x="0" y="0"/>
              <a:chExt cx="87436" cy="12543"/>
            </a:xfrm>
          </p:grpSpPr>
          <p:sp>
            <p:nvSpPr>
              <p:cNvPr id="8" name="Freeform 8"/>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9" name="TextBox 9"/>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10" name="Group 10"/>
            <p:cNvGrpSpPr/>
            <p:nvPr/>
          </p:nvGrpSpPr>
          <p:grpSpPr>
            <a:xfrm>
              <a:off x="0" y="105314"/>
              <a:ext cx="442646" cy="63500"/>
              <a:chOff x="0" y="0"/>
              <a:chExt cx="87436" cy="12543"/>
            </a:xfrm>
          </p:grpSpPr>
          <p:sp>
            <p:nvSpPr>
              <p:cNvPr id="11" name="Freeform 11"/>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12" name="TextBox 12"/>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13" name="Group 13"/>
            <p:cNvGrpSpPr/>
            <p:nvPr/>
          </p:nvGrpSpPr>
          <p:grpSpPr>
            <a:xfrm>
              <a:off x="0" y="206914"/>
              <a:ext cx="442646" cy="63500"/>
              <a:chOff x="0" y="0"/>
              <a:chExt cx="87436" cy="12543"/>
            </a:xfrm>
          </p:grpSpPr>
          <p:sp>
            <p:nvSpPr>
              <p:cNvPr id="14" name="Freeform 14"/>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15" name="TextBox 15"/>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sp>
        <p:nvSpPr>
          <p:cNvPr id="16" name="Freeform 16"/>
          <p:cNvSpPr/>
          <p:nvPr/>
        </p:nvSpPr>
        <p:spPr>
          <a:xfrm>
            <a:off x="16927006" y="746082"/>
            <a:ext cx="332294" cy="302554"/>
          </a:xfrm>
          <a:custGeom>
            <a:avLst/>
            <a:gdLst/>
            <a:ahLst/>
            <a:cxnLst/>
            <a:rect l="l" t="t" r="r" b="b"/>
            <a:pathLst>
              <a:path w="332294" h="302554">
                <a:moveTo>
                  <a:pt x="0" y="0"/>
                </a:moveTo>
                <a:lnTo>
                  <a:pt x="332294" y="0"/>
                </a:lnTo>
                <a:lnTo>
                  <a:pt x="332294" y="302554"/>
                </a:lnTo>
                <a:lnTo>
                  <a:pt x="0" y="30255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2351178" y="1876425"/>
            <a:ext cx="13997729" cy="2269381"/>
          </a:xfrm>
          <a:prstGeom prst="rect">
            <a:avLst/>
          </a:prstGeom>
        </p:spPr>
        <p:txBody>
          <a:bodyPr lIns="0" tIns="0" rIns="0" bIns="0" rtlCol="0" anchor="t">
            <a:spAutoFit/>
          </a:bodyPr>
          <a:lstStyle/>
          <a:p>
            <a:pPr algn="just">
              <a:lnSpc>
                <a:spcPts val="6359"/>
              </a:lnSpc>
            </a:pPr>
            <a:r>
              <a:rPr lang="en-US" sz="5888" spc="741">
                <a:solidFill>
                  <a:srgbClr val="FFFFFF"/>
                </a:solidFill>
                <a:latin typeface="HK Modular"/>
                <a:ea typeface="HK Modular"/>
                <a:cs typeface="HK Modular"/>
                <a:sym typeface="HK Modular"/>
              </a:rPr>
              <a:t>Neural Sentinel:</a:t>
            </a:r>
          </a:p>
          <a:p>
            <a:pPr algn="just">
              <a:lnSpc>
                <a:spcPts val="3815"/>
              </a:lnSpc>
              <a:spcBef>
                <a:spcPct val="0"/>
              </a:spcBef>
            </a:pPr>
            <a:r>
              <a:rPr lang="en-US" sz="3533" spc="445">
                <a:solidFill>
                  <a:srgbClr val="FFFFFF"/>
                </a:solidFill>
                <a:latin typeface="HK Modular"/>
                <a:ea typeface="HK Modular"/>
                <a:cs typeface="HK Modular"/>
                <a:sym typeface="HK Modular"/>
              </a:rPr>
              <a:t>Decntralised, Deep learning based network intrusion detection solution</a:t>
            </a:r>
          </a:p>
        </p:txBody>
      </p:sp>
      <p:grpSp>
        <p:nvGrpSpPr>
          <p:cNvPr id="18" name="Group 18"/>
          <p:cNvGrpSpPr/>
          <p:nvPr/>
        </p:nvGrpSpPr>
        <p:grpSpPr>
          <a:xfrm>
            <a:off x="1028700" y="6052498"/>
            <a:ext cx="4861504" cy="710557"/>
            <a:chOff x="0" y="0"/>
            <a:chExt cx="1280396" cy="187143"/>
          </a:xfrm>
        </p:grpSpPr>
        <p:sp>
          <p:nvSpPr>
            <p:cNvPr id="19" name="Freeform 19"/>
            <p:cNvSpPr/>
            <p:nvPr/>
          </p:nvSpPr>
          <p:spPr>
            <a:xfrm>
              <a:off x="0" y="0"/>
              <a:ext cx="1280396" cy="187143"/>
            </a:xfrm>
            <a:custGeom>
              <a:avLst/>
              <a:gdLst/>
              <a:ahLst/>
              <a:cxnLst/>
              <a:rect l="l" t="t" r="r" b="b"/>
              <a:pathLst>
                <a:path w="1280396" h="187143">
                  <a:moveTo>
                    <a:pt x="93571" y="0"/>
                  </a:moveTo>
                  <a:lnTo>
                    <a:pt x="1186825" y="0"/>
                  </a:lnTo>
                  <a:cubicBezTo>
                    <a:pt x="1211641" y="0"/>
                    <a:pt x="1235442" y="9858"/>
                    <a:pt x="1252990" y="27406"/>
                  </a:cubicBezTo>
                  <a:cubicBezTo>
                    <a:pt x="1270538" y="44954"/>
                    <a:pt x="1280396" y="68755"/>
                    <a:pt x="1280396" y="93571"/>
                  </a:cubicBezTo>
                  <a:lnTo>
                    <a:pt x="1280396" y="93571"/>
                  </a:lnTo>
                  <a:cubicBezTo>
                    <a:pt x="1280396" y="118388"/>
                    <a:pt x="1270538" y="142188"/>
                    <a:pt x="1252990" y="159736"/>
                  </a:cubicBezTo>
                  <a:cubicBezTo>
                    <a:pt x="1235442" y="177284"/>
                    <a:pt x="1211641" y="187143"/>
                    <a:pt x="1186825" y="187143"/>
                  </a:cubicBezTo>
                  <a:lnTo>
                    <a:pt x="93571" y="187143"/>
                  </a:lnTo>
                  <a:cubicBezTo>
                    <a:pt x="68755" y="187143"/>
                    <a:pt x="44954" y="177284"/>
                    <a:pt x="27406" y="159736"/>
                  </a:cubicBezTo>
                  <a:cubicBezTo>
                    <a:pt x="9858" y="142188"/>
                    <a:pt x="0" y="118388"/>
                    <a:pt x="0" y="93571"/>
                  </a:cubicBezTo>
                  <a:lnTo>
                    <a:pt x="0" y="93571"/>
                  </a:lnTo>
                  <a:cubicBezTo>
                    <a:pt x="0" y="68755"/>
                    <a:pt x="9858" y="44954"/>
                    <a:pt x="27406" y="27406"/>
                  </a:cubicBezTo>
                  <a:cubicBezTo>
                    <a:pt x="44954" y="9858"/>
                    <a:pt x="68755" y="0"/>
                    <a:pt x="93571" y="0"/>
                  </a:cubicBezTo>
                  <a:close/>
                </a:path>
              </a:pathLst>
            </a:custGeom>
            <a:gradFill rotWithShape="1">
              <a:gsLst>
                <a:gs pos="0">
                  <a:srgbClr val="071121">
                    <a:alpha val="100000"/>
                  </a:srgbClr>
                </a:gs>
                <a:gs pos="50000">
                  <a:srgbClr val="4F5661">
                    <a:alpha val="78500"/>
                  </a:srgbClr>
                </a:gs>
                <a:gs pos="100000">
                  <a:srgbClr val="060F1F">
                    <a:alpha val="0"/>
                  </a:srgbClr>
                </a:gs>
              </a:gsLst>
              <a:lin ang="0"/>
            </a:gradFill>
          </p:spPr>
        </p:sp>
        <p:sp>
          <p:nvSpPr>
            <p:cNvPr id="20" name="TextBox 20"/>
            <p:cNvSpPr txBox="1"/>
            <p:nvPr/>
          </p:nvSpPr>
          <p:spPr>
            <a:xfrm>
              <a:off x="0" y="0"/>
              <a:ext cx="1280396" cy="187143"/>
            </a:xfrm>
            <a:prstGeom prst="rect">
              <a:avLst/>
            </a:prstGeom>
          </p:spPr>
          <p:txBody>
            <a:bodyPr lIns="50800" tIns="50800" rIns="50800" bIns="50800" rtlCol="0" anchor="ctr"/>
            <a:lstStyle/>
            <a:p>
              <a:pPr algn="ctr">
                <a:lnSpc>
                  <a:spcPts val="1917"/>
                </a:lnSpc>
              </a:pPr>
              <a:endParaRPr/>
            </a:p>
          </p:txBody>
        </p:sp>
      </p:grpSp>
      <p:sp>
        <p:nvSpPr>
          <p:cNvPr id="21" name="TextBox 21"/>
          <p:cNvSpPr txBox="1"/>
          <p:nvPr/>
        </p:nvSpPr>
        <p:spPr>
          <a:xfrm>
            <a:off x="1561310" y="6258449"/>
            <a:ext cx="2325189" cy="308181"/>
          </a:xfrm>
          <a:prstGeom prst="rect">
            <a:avLst/>
          </a:prstGeom>
        </p:spPr>
        <p:txBody>
          <a:bodyPr lIns="0" tIns="0" rIns="0" bIns="0" rtlCol="0" anchor="t">
            <a:spAutoFit/>
          </a:bodyPr>
          <a:lstStyle/>
          <a:p>
            <a:pPr algn="l">
              <a:lnSpc>
                <a:spcPts val="2264"/>
              </a:lnSpc>
              <a:spcBef>
                <a:spcPct val="0"/>
              </a:spcBef>
            </a:pPr>
            <a:r>
              <a:rPr lang="en-US" sz="2096" b="1">
                <a:solidFill>
                  <a:srgbClr val="FFFFFF"/>
                </a:solidFill>
                <a:latin typeface="Poppins Bold"/>
                <a:ea typeface="Poppins Bold"/>
                <a:cs typeface="Poppins Bold"/>
                <a:sym typeface="Poppins Bold"/>
              </a:rPr>
              <a:t>YASH SHELAR</a:t>
            </a:r>
          </a:p>
        </p:txBody>
      </p:sp>
      <p:grpSp>
        <p:nvGrpSpPr>
          <p:cNvPr id="22" name="Group 22"/>
          <p:cNvGrpSpPr/>
          <p:nvPr/>
        </p:nvGrpSpPr>
        <p:grpSpPr>
          <a:xfrm>
            <a:off x="1028700" y="7000729"/>
            <a:ext cx="4861504" cy="710557"/>
            <a:chOff x="0" y="0"/>
            <a:chExt cx="1280396" cy="187143"/>
          </a:xfrm>
        </p:grpSpPr>
        <p:sp>
          <p:nvSpPr>
            <p:cNvPr id="23" name="Freeform 23"/>
            <p:cNvSpPr/>
            <p:nvPr/>
          </p:nvSpPr>
          <p:spPr>
            <a:xfrm>
              <a:off x="0" y="0"/>
              <a:ext cx="1280396" cy="187143"/>
            </a:xfrm>
            <a:custGeom>
              <a:avLst/>
              <a:gdLst/>
              <a:ahLst/>
              <a:cxnLst/>
              <a:rect l="l" t="t" r="r" b="b"/>
              <a:pathLst>
                <a:path w="1280396" h="187143">
                  <a:moveTo>
                    <a:pt x="93571" y="0"/>
                  </a:moveTo>
                  <a:lnTo>
                    <a:pt x="1186825" y="0"/>
                  </a:lnTo>
                  <a:cubicBezTo>
                    <a:pt x="1211641" y="0"/>
                    <a:pt x="1235442" y="9858"/>
                    <a:pt x="1252990" y="27406"/>
                  </a:cubicBezTo>
                  <a:cubicBezTo>
                    <a:pt x="1270538" y="44954"/>
                    <a:pt x="1280396" y="68755"/>
                    <a:pt x="1280396" y="93571"/>
                  </a:cubicBezTo>
                  <a:lnTo>
                    <a:pt x="1280396" y="93571"/>
                  </a:lnTo>
                  <a:cubicBezTo>
                    <a:pt x="1280396" y="118388"/>
                    <a:pt x="1270538" y="142188"/>
                    <a:pt x="1252990" y="159736"/>
                  </a:cubicBezTo>
                  <a:cubicBezTo>
                    <a:pt x="1235442" y="177284"/>
                    <a:pt x="1211641" y="187143"/>
                    <a:pt x="1186825" y="187143"/>
                  </a:cubicBezTo>
                  <a:lnTo>
                    <a:pt x="93571" y="187143"/>
                  </a:lnTo>
                  <a:cubicBezTo>
                    <a:pt x="68755" y="187143"/>
                    <a:pt x="44954" y="177284"/>
                    <a:pt x="27406" y="159736"/>
                  </a:cubicBezTo>
                  <a:cubicBezTo>
                    <a:pt x="9858" y="142188"/>
                    <a:pt x="0" y="118388"/>
                    <a:pt x="0" y="93571"/>
                  </a:cubicBezTo>
                  <a:lnTo>
                    <a:pt x="0" y="93571"/>
                  </a:lnTo>
                  <a:cubicBezTo>
                    <a:pt x="0" y="68755"/>
                    <a:pt x="9858" y="44954"/>
                    <a:pt x="27406" y="27406"/>
                  </a:cubicBezTo>
                  <a:cubicBezTo>
                    <a:pt x="44954" y="9858"/>
                    <a:pt x="68755" y="0"/>
                    <a:pt x="93571" y="0"/>
                  </a:cubicBezTo>
                  <a:close/>
                </a:path>
              </a:pathLst>
            </a:custGeom>
            <a:gradFill rotWithShape="1">
              <a:gsLst>
                <a:gs pos="0">
                  <a:srgbClr val="071121">
                    <a:alpha val="100000"/>
                  </a:srgbClr>
                </a:gs>
                <a:gs pos="50000">
                  <a:srgbClr val="4F5661">
                    <a:alpha val="78500"/>
                  </a:srgbClr>
                </a:gs>
                <a:gs pos="100000">
                  <a:srgbClr val="060F1F">
                    <a:alpha val="0"/>
                  </a:srgbClr>
                </a:gs>
              </a:gsLst>
              <a:lin ang="0"/>
            </a:gradFill>
          </p:spPr>
        </p:sp>
        <p:sp>
          <p:nvSpPr>
            <p:cNvPr id="24" name="TextBox 24"/>
            <p:cNvSpPr txBox="1"/>
            <p:nvPr/>
          </p:nvSpPr>
          <p:spPr>
            <a:xfrm>
              <a:off x="0" y="0"/>
              <a:ext cx="1280396" cy="187143"/>
            </a:xfrm>
            <a:prstGeom prst="rect">
              <a:avLst/>
            </a:prstGeom>
          </p:spPr>
          <p:txBody>
            <a:bodyPr lIns="50800" tIns="50800" rIns="50800" bIns="50800" rtlCol="0" anchor="ctr"/>
            <a:lstStyle/>
            <a:p>
              <a:pPr algn="ctr">
                <a:lnSpc>
                  <a:spcPts val="1917"/>
                </a:lnSpc>
              </a:pPr>
              <a:endParaRPr/>
            </a:p>
          </p:txBody>
        </p:sp>
      </p:grpSp>
      <p:sp>
        <p:nvSpPr>
          <p:cNvPr id="25" name="TextBox 25"/>
          <p:cNvSpPr txBox="1"/>
          <p:nvPr/>
        </p:nvSpPr>
        <p:spPr>
          <a:xfrm>
            <a:off x="1561310" y="7206905"/>
            <a:ext cx="3297678" cy="308181"/>
          </a:xfrm>
          <a:prstGeom prst="rect">
            <a:avLst/>
          </a:prstGeom>
        </p:spPr>
        <p:txBody>
          <a:bodyPr lIns="0" tIns="0" rIns="0" bIns="0" rtlCol="0" anchor="t">
            <a:spAutoFit/>
          </a:bodyPr>
          <a:lstStyle/>
          <a:p>
            <a:pPr algn="l">
              <a:lnSpc>
                <a:spcPts val="2264"/>
              </a:lnSpc>
              <a:spcBef>
                <a:spcPct val="0"/>
              </a:spcBef>
            </a:pPr>
            <a:r>
              <a:rPr lang="en-US" sz="2096" b="1">
                <a:solidFill>
                  <a:srgbClr val="FFFFFF"/>
                </a:solidFill>
                <a:latin typeface="Poppins Bold"/>
                <a:ea typeface="Poppins Bold"/>
                <a:cs typeface="Poppins Bold"/>
                <a:sym typeface="Poppins Bold"/>
              </a:rPr>
              <a:t>GAURESH BAGAYATKAR</a:t>
            </a:r>
          </a:p>
        </p:txBody>
      </p:sp>
      <p:grpSp>
        <p:nvGrpSpPr>
          <p:cNvPr id="26" name="Group 26"/>
          <p:cNvGrpSpPr/>
          <p:nvPr/>
        </p:nvGrpSpPr>
        <p:grpSpPr>
          <a:xfrm>
            <a:off x="1028700" y="7949410"/>
            <a:ext cx="4861504" cy="710557"/>
            <a:chOff x="0" y="0"/>
            <a:chExt cx="1280396" cy="187143"/>
          </a:xfrm>
        </p:grpSpPr>
        <p:sp>
          <p:nvSpPr>
            <p:cNvPr id="27" name="Freeform 27"/>
            <p:cNvSpPr/>
            <p:nvPr/>
          </p:nvSpPr>
          <p:spPr>
            <a:xfrm>
              <a:off x="0" y="0"/>
              <a:ext cx="1280396" cy="187143"/>
            </a:xfrm>
            <a:custGeom>
              <a:avLst/>
              <a:gdLst/>
              <a:ahLst/>
              <a:cxnLst/>
              <a:rect l="l" t="t" r="r" b="b"/>
              <a:pathLst>
                <a:path w="1280396" h="187143">
                  <a:moveTo>
                    <a:pt x="93571" y="0"/>
                  </a:moveTo>
                  <a:lnTo>
                    <a:pt x="1186825" y="0"/>
                  </a:lnTo>
                  <a:cubicBezTo>
                    <a:pt x="1211641" y="0"/>
                    <a:pt x="1235442" y="9858"/>
                    <a:pt x="1252990" y="27406"/>
                  </a:cubicBezTo>
                  <a:cubicBezTo>
                    <a:pt x="1270538" y="44954"/>
                    <a:pt x="1280396" y="68755"/>
                    <a:pt x="1280396" y="93571"/>
                  </a:cubicBezTo>
                  <a:lnTo>
                    <a:pt x="1280396" y="93571"/>
                  </a:lnTo>
                  <a:cubicBezTo>
                    <a:pt x="1280396" y="118388"/>
                    <a:pt x="1270538" y="142188"/>
                    <a:pt x="1252990" y="159736"/>
                  </a:cubicBezTo>
                  <a:cubicBezTo>
                    <a:pt x="1235442" y="177284"/>
                    <a:pt x="1211641" y="187143"/>
                    <a:pt x="1186825" y="187143"/>
                  </a:cubicBezTo>
                  <a:lnTo>
                    <a:pt x="93571" y="187143"/>
                  </a:lnTo>
                  <a:cubicBezTo>
                    <a:pt x="68755" y="187143"/>
                    <a:pt x="44954" y="177284"/>
                    <a:pt x="27406" y="159736"/>
                  </a:cubicBezTo>
                  <a:cubicBezTo>
                    <a:pt x="9858" y="142188"/>
                    <a:pt x="0" y="118388"/>
                    <a:pt x="0" y="93571"/>
                  </a:cubicBezTo>
                  <a:lnTo>
                    <a:pt x="0" y="93571"/>
                  </a:lnTo>
                  <a:cubicBezTo>
                    <a:pt x="0" y="68755"/>
                    <a:pt x="9858" y="44954"/>
                    <a:pt x="27406" y="27406"/>
                  </a:cubicBezTo>
                  <a:cubicBezTo>
                    <a:pt x="44954" y="9858"/>
                    <a:pt x="68755" y="0"/>
                    <a:pt x="93571" y="0"/>
                  </a:cubicBezTo>
                  <a:close/>
                </a:path>
              </a:pathLst>
            </a:custGeom>
            <a:gradFill rotWithShape="1">
              <a:gsLst>
                <a:gs pos="0">
                  <a:srgbClr val="071121">
                    <a:alpha val="100000"/>
                  </a:srgbClr>
                </a:gs>
                <a:gs pos="50000">
                  <a:srgbClr val="4F5661">
                    <a:alpha val="78500"/>
                  </a:srgbClr>
                </a:gs>
                <a:gs pos="100000">
                  <a:srgbClr val="060F1F">
                    <a:alpha val="0"/>
                  </a:srgbClr>
                </a:gs>
              </a:gsLst>
              <a:lin ang="0"/>
            </a:gradFill>
          </p:spPr>
        </p:sp>
        <p:sp>
          <p:nvSpPr>
            <p:cNvPr id="28" name="TextBox 28"/>
            <p:cNvSpPr txBox="1"/>
            <p:nvPr/>
          </p:nvSpPr>
          <p:spPr>
            <a:xfrm>
              <a:off x="0" y="0"/>
              <a:ext cx="1280396" cy="187143"/>
            </a:xfrm>
            <a:prstGeom prst="rect">
              <a:avLst/>
            </a:prstGeom>
          </p:spPr>
          <p:txBody>
            <a:bodyPr lIns="50800" tIns="50800" rIns="50800" bIns="50800" rtlCol="0" anchor="ctr"/>
            <a:lstStyle/>
            <a:p>
              <a:pPr algn="ctr">
                <a:lnSpc>
                  <a:spcPts val="1917"/>
                </a:lnSpc>
              </a:pPr>
              <a:endParaRPr/>
            </a:p>
          </p:txBody>
        </p:sp>
      </p:grpSp>
      <p:sp>
        <p:nvSpPr>
          <p:cNvPr id="29" name="TextBox 29"/>
          <p:cNvSpPr txBox="1"/>
          <p:nvPr/>
        </p:nvSpPr>
        <p:spPr>
          <a:xfrm>
            <a:off x="1561310" y="8155361"/>
            <a:ext cx="3103718" cy="308181"/>
          </a:xfrm>
          <a:prstGeom prst="rect">
            <a:avLst/>
          </a:prstGeom>
        </p:spPr>
        <p:txBody>
          <a:bodyPr lIns="0" tIns="0" rIns="0" bIns="0" rtlCol="0" anchor="t">
            <a:spAutoFit/>
          </a:bodyPr>
          <a:lstStyle/>
          <a:p>
            <a:pPr algn="l">
              <a:lnSpc>
                <a:spcPts val="2264"/>
              </a:lnSpc>
              <a:spcBef>
                <a:spcPct val="0"/>
              </a:spcBef>
            </a:pPr>
            <a:r>
              <a:rPr lang="en-US" sz="2096" b="1">
                <a:solidFill>
                  <a:srgbClr val="FFFFFF"/>
                </a:solidFill>
                <a:latin typeface="Poppins Bold"/>
                <a:ea typeface="Poppins Bold"/>
                <a:cs typeface="Poppins Bold"/>
                <a:sym typeface="Poppins Bold"/>
              </a:rPr>
              <a:t>VEDANT CHAUDHARI</a:t>
            </a:r>
          </a:p>
        </p:txBody>
      </p:sp>
      <p:grpSp>
        <p:nvGrpSpPr>
          <p:cNvPr id="30" name="Group 30"/>
          <p:cNvGrpSpPr/>
          <p:nvPr/>
        </p:nvGrpSpPr>
        <p:grpSpPr>
          <a:xfrm>
            <a:off x="1028700" y="8897641"/>
            <a:ext cx="4861504" cy="710557"/>
            <a:chOff x="0" y="0"/>
            <a:chExt cx="1280396" cy="187143"/>
          </a:xfrm>
        </p:grpSpPr>
        <p:sp>
          <p:nvSpPr>
            <p:cNvPr id="31" name="Freeform 31"/>
            <p:cNvSpPr/>
            <p:nvPr/>
          </p:nvSpPr>
          <p:spPr>
            <a:xfrm>
              <a:off x="0" y="0"/>
              <a:ext cx="1280396" cy="187143"/>
            </a:xfrm>
            <a:custGeom>
              <a:avLst/>
              <a:gdLst/>
              <a:ahLst/>
              <a:cxnLst/>
              <a:rect l="l" t="t" r="r" b="b"/>
              <a:pathLst>
                <a:path w="1280396" h="187143">
                  <a:moveTo>
                    <a:pt x="93571" y="0"/>
                  </a:moveTo>
                  <a:lnTo>
                    <a:pt x="1186825" y="0"/>
                  </a:lnTo>
                  <a:cubicBezTo>
                    <a:pt x="1211641" y="0"/>
                    <a:pt x="1235442" y="9858"/>
                    <a:pt x="1252990" y="27406"/>
                  </a:cubicBezTo>
                  <a:cubicBezTo>
                    <a:pt x="1270538" y="44954"/>
                    <a:pt x="1280396" y="68755"/>
                    <a:pt x="1280396" y="93571"/>
                  </a:cubicBezTo>
                  <a:lnTo>
                    <a:pt x="1280396" y="93571"/>
                  </a:lnTo>
                  <a:cubicBezTo>
                    <a:pt x="1280396" y="118388"/>
                    <a:pt x="1270538" y="142188"/>
                    <a:pt x="1252990" y="159736"/>
                  </a:cubicBezTo>
                  <a:cubicBezTo>
                    <a:pt x="1235442" y="177284"/>
                    <a:pt x="1211641" y="187143"/>
                    <a:pt x="1186825" y="187143"/>
                  </a:cubicBezTo>
                  <a:lnTo>
                    <a:pt x="93571" y="187143"/>
                  </a:lnTo>
                  <a:cubicBezTo>
                    <a:pt x="68755" y="187143"/>
                    <a:pt x="44954" y="177284"/>
                    <a:pt x="27406" y="159736"/>
                  </a:cubicBezTo>
                  <a:cubicBezTo>
                    <a:pt x="9858" y="142188"/>
                    <a:pt x="0" y="118388"/>
                    <a:pt x="0" y="93571"/>
                  </a:cubicBezTo>
                  <a:lnTo>
                    <a:pt x="0" y="93571"/>
                  </a:lnTo>
                  <a:cubicBezTo>
                    <a:pt x="0" y="68755"/>
                    <a:pt x="9858" y="44954"/>
                    <a:pt x="27406" y="27406"/>
                  </a:cubicBezTo>
                  <a:cubicBezTo>
                    <a:pt x="44954" y="9858"/>
                    <a:pt x="68755" y="0"/>
                    <a:pt x="93571" y="0"/>
                  </a:cubicBezTo>
                  <a:close/>
                </a:path>
              </a:pathLst>
            </a:custGeom>
            <a:gradFill rotWithShape="1">
              <a:gsLst>
                <a:gs pos="0">
                  <a:srgbClr val="071121">
                    <a:alpha val="100000"/>
                  </a:srgbClr>
                </a:gs>
                <a:gs pos="50000">
                  <a:srgbClr val="4F5661">
                    <a:alpha val="78500"/>
                  </a:srgbClr>
                </a:gs>
                <a:gs pos="100000">
                  <a:srgbClr val="060F1F">
                    <a:alpha val="0"/>
                  </a:srgbClr>
                </a:gs>
              </a:gsLst>
              <a:lin ang="0"/>
            </a:gradFill>
          </p:spPr>
        </p:sp>
        <p:sp>
          <p:nvSpPr>
            <p:cNvPr id="32" name="TextBox 32"/>
            <p:cNvSpPr txBox="1"/>
            <p:nvPr/>
          </p:nvSpPr>
          <p:spPr>
            <a:xfrm>
              <a:off x="0" y="0"/>
              <a:ext cx="1280396" cy="187143"/>
            </a:xfrm>
            <a:prstGeom prst="rect">
              <a:avLst/>
            </a:prstGeom>
          </p:spPr>
          <p:txBody>
            <a:bodyPr lIns="50800" tIns="50800" rIns="50800" bIns="50800" rtlCol="0" anchor="ctr"/>
            <a:lstStyle/>
            <a:p>
              <a:pPr algn="ctr">
                <a:lnSpc>
                  <a:spcPts val="1917"/>
                </a:lnSpc>
              </a:pPr>
              <a:endParaRPr/>
            </a:p>
          </p:txBody>
        </p:sp>
      </p:grpSp>
      <p:sp>
        <p:nvSpPr>
          <p:cNvPr id="33" name="TextBox 33"/>
          <p:cNvSpPr txBox="1"/>
          <p:nvPr/>
        </p:nvSpPr>
        <p:spPr>
          <a:xfrm>
            <a:off x="1561310" y="9107642"/>
            <a:ext cx="2982883" cy="308181"/>
          </a:xfrm>
          <a:prstGeom prst="rect">
            <a:avLst/>
          </a:prstGeom>
        </p:spPr>
        <p:txBody>
          <a:bodyPr lIns="0" tIns="0" rIns="0" bIns="0" rtlCol="0" anchor="t">
            <a:spAutoFit/>
          </a:bodyPr>
          <a:lstStyle/>
          <a:p>
            <a:pPr algn="l">
              <a:lnSpc>
                <a:spcPts val="2264"/>
              </a:lnSpc>
              <a:spcBef>
                <a:spcPct val="0"/>
              </a:spcBef>
            </a:pPr>
            <a:r>
              <a:rPr lang="en-US" sz="2096" b="1">
                <a:solidFill>
                  <a:srgbClr val="FFFFFF"/>
                </a:solidFill>
                <a:latin typeface="Poppins Bold"/>
                <a:ea typeface="Poppins Bold"/>
                <a:cs typeface="Poppins Bold"/>
                <a:sym typeface="Poppins Bold"/>
              </a:rPr>
              <a:t>OCEAN CHAUDHARY</a:t>
            </a:r>
          </a:p>
        </p:txBody>
      </p:sp>
      <p:sp>
        <p:nvSpPr>
          <p:cNvPr id="34" name="TextBox 34"/>
          <p:cNvSpPr txBox="1"/>
          <p:nvPr/>
        </p:nvSpPr>
        <p:spPr>
          <a:xfrm>
            <a:off x="1028700" y="5153025"/>
            <a:ext cx="3724725" cy="425147"/>
          </a:xfrm>
          <a:prstGeom prst="rect">
            <a:avLst/>
          </a:prstGeom>
        </p:spPr>
        <p:txBody>
          <a:bodyPr lIns="0" tIns="0" rIns="0" bIns="0" rtlCol="0" anchor="t">
            <a:spAutoFit/>
          </a:bodyPr>
          <a:lstStyle/>
          <a:p>
            <a:pPr algn="ctr">
              <a:lnSpc>
                <a:spcPts val="3128"/>
              </a:lnSpc>
              <a:spcBef>
                <a:spcPct val="0"/>
              </a:spcBef>
            </a:pPr>
            <a:r>
              <a:rPr lang="en-US" sz="2896" b="1">
                <a:solidFill>
                  <a:srgbClr val="FFFFFF"/>
                </a:solidFill>
                <a:latin typeface="Poppins Bold"/>
                <a:ea typeface="Poppins Bold"/>
                <a:cs typeface="Poppins Bold"/>
                <a:sym typeface="Poppins Bold"/>
              </a:rPr>
              <a:t>GROUP 4 MEMBERS: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5555" b="-5555"/>
            </a:stretch>
          </a:blipFill>
        </p:spPr>
      </p:sp>
      <p:grpSp>
        <p:nvGrpSpPr>
          <p:cNvPr id="3" name="Group 3"/>
          <p:cNvGrpSpPr/>
          <p:nvPr/>
        </p:nvGrpSpPr>
        <p:grpSpPr>
          <a:xfrm>
            <a:off x="862708" y="795954"/>
            <a:ext cx="331984" cy="202810"/>
            <a:chOff x="0" y="0"/>
            <a:chExt cx="442646" cy="270414"/>
          </a:xfrm>
        </p:grpSpPr>
        <p:grpSp>
          <p:nvGrpSpPr>
            <p:cNvPr id="4" name="Group 4"/>
            <p:cNvGrpSpPr/>
            <p:nvPr/>
          </p:nvGrpSpPr>
          <p:grpSpPr>
            <a:xfrm>
              <a:off x="0" y="0"/>
              <a:ext cx="442646" cy="63500"/>
              <a:chOff x="0" y="0"/>
              <a:chExt cx="87436" cy="12543"/>
            </a:xfrm>
          </p:grpSpPr>
          <p:sp>
            <p:nvSpPr>
              <p:cNvPr id="5" name="Freeform 5"/>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6" name="TextBox 6"/>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7" name="Group 7"/>
            <p:cNvGrpSpPr/>
            <p:nvPr/>
          </p:nvGrpSpPr>
          <p:grpSpPr>
            <a:xfrm>
              <a:off x="0" y="105314"/>
              <a:ext cx="442646" cy="63500"/>
              <a:chOff x="0" y="0"/>
              <a:chExt cx="87436" cy="12543"/>
            </a:xfrm>
          </p:grpSpPr>
          <p:sp>
            <p:nvSpPr>
              <p:cNvPr id="8" name="Freeform 8"/>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9" name="TextBox 9"/>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10" name="Group 10"/>
            <p:cNvGrpSpPr/>
            <p:nvPr/>
          </p:nvGrpSpPr>
          <p:grpSpPr>
            <a:xfrm>
              <a:off x="0" y="206914"/>
              <a:ext cx="442646" cy="63500"/>
              <a:chOff x="0" y="0"/>
              <a:chExt cx="87436" cy="12543"/>
            </a:xfrm>
          </p:grpSpPr>
          <p:sp>
            <p:nvSpPr>
              <p:cNvPr id="11" name="Freeform 11"/>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12" name="TextBox 12"/>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sp>
        <p:nvSpPr>
          <p:cNvPr id="13" name="Freeform 13"/>
          <p:cNvSpPr/>
          <p:nvPr/>
        </p:nvSpPr>
        <p:spPr>
          <a:xfrm>
            <a:off x="16927006" y="746082"/>
            <a:ext cx="332294" cy="302554"/>
          </a:xfrm>
          <a:custGeom>
            <a:avLst/>
            <a:gdLst/>
            <a:ahLst/>
            <a:cxnLst/>
            <a:rect l="l" t="t" r="r" b="b"/>
            <a:pathLst>
              <a:path w="332294" h="302554">
                <a:moveTo>
                  <a:pt x="0" y="0"/>
                </a:moveTo>
                <a:lnTo>
                  <a:pt x="332294" y="0"/>
                </a:lnTo>
                <a:lnTo>
                  <a:pt x="332294" y="302554"/>
                </a:lnTo>
                <a:lnTo>
                  <a:pt x="0" y="302554"/>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4" name="Group 14"/>
          <p:cNvGrpSpPr/>
          <p:nvPr/>
        </p:nvGrpSpPr>
        <p:grpSpPr>
          <a:xfrm>
            <a:off x="10691948" y="1930161"/>
            <a:ext cx="6401205" cy="7448674"/>
            <a:chOff x="0" y="0"/>
            <a:chExt cx="698500" cy="812800"/>
          </a:xfrm>
        </p:grpSpPr>
        <p:sp>
          <p:nvSpPr>
            <p:cNvPr id="15" name="Freeform 1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blipFill>
              <a:blip r:embed="rId4"/>
              <a:stretch>
                <a:fillRect l="-53204" r="-53204"/>
              </a:stretch>
            </a:blipFill>
            <a:ln w="66675" cap="sq">
              <a:gradFill>
                <a:gsLst>
                  <a:gs pos="0">
                    <a:srgbClr val="4274C3">
                      <a:alpha val="100000"/>
                    </a:srgbClr>
                  </a:gs>
                  <a:gs pos="50000">
                    <a:srgbClr val="FFFFFF">
                      <a:alpha val="78500"/>
                    </a:srgbClr>
                  </a:gs>
                  <a:gs pos="100000">
                    <a:srgbClr val="060F1F">
                      <a:alpha val="0"/>
                    </a:srgbClr>
                  </a:gs>
                </a:gsLst>
                <a:lin ang="0"/>
              </a:gradFill>
              <a:prstDash val="solid"/>
              <a:miter/>
            </a:ln>
          </p:spPr>
        </p:sp>
      </p:grpSp>
      <p:sp>
        <p:nvSpPr>
          <p:cNvPr id="16" name="Freeform 16"/>
          <p:cNvSpPr/>
          <p:nvPr/>
        </p:nvSpPr>
        <p:spPr>
          <a:xfrm>
            <a:off x="15152804" y="1909465"/>
            <a:ext cx="5798308" cy="2033701"/>
          </a:xfrm>
          <a:custGeom>
            <a:avLst/>
            <a:gdLst/>
            <a:ahLst/>
            <a:cxnLst/>
            <a:rect l="l" t="t" r="r" b="b"/>
            <a:pathLst>
              <a:path w="5798308" h="2033701">
                <a:moveTo>
                  <a:pt x="0" y="0"/>
                </a:moveTo>
                <a:lnTo>
                  <a:pt x="5798308" y="0"/>
                </a:lnTo>
                <a:lnTo>
                  <a:pt x="5798308" y="2033701"/>
                </a:lnTo>
                <a:lnTo>
                  <a:pt x="0" y="2033701"/>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sp>
      <p:sp>
        <p:nvSpPr>
          <p:cNvPr id="17" name="TextBox 17"/>
          <p:cNvSpPr txBox="1"/>
          <p:nvPr/>
        </p:nvSpPr>
        <p:spPr>
          <a:xfrm>
            <a:off x="1391939" y="1805350"/>
            <a:ext cx="9814167" cy="885869"/>
          </a:xfrm>
          <a:prstGeom prst="rect">
            <a:avLst/>
          </a:prstGeom>
        </p:spPr>
        <p:txBody>
          <a:bodyPr lIns="0" tIns="0" rIns="0" bIns="0" rtlCol="0" anchor="t">
            <a:spAutoFit/>
          </a:bodyPr>
          <a:lstStyle/>
          <a:p>
            <a:pPr algn="l">
              <a:lnSpc>
                <a:spcPts val="6753"/>
              </a:lnSpc>
              <a:spcBef>
                <a:spcPct val="0"/>
              </a:spcBef>
            </a:pPr>
            <a:r>
              <a:rPr lang="en-US" sz="6252" spc="787">
                <a:solidFill>
                  <a:srgbClr val="FFFFFF"/>
                </a:solidFill>
                <a:latin typeface="HK Modular"/>
                <a:ea typeface="HK Modular"/>
                <a:cs typeface="HK Modular"/>
                <a:sym typeface="HK Modular"/>
              </a:rPr>
              <a:t>Introduction</a:t>
            </a:r>
          </a:p>
        </p:txBody>
      </p:sp>
      <p:sp>
        <p:nvSpPr>
          <p:cNvPr id="18" name="TextBox 18"/>
          <p:cNvSpPr txBox="1"/>
          <p:nvPr/>
        </p:nvSpPr>
        <p:spPr>
          <a:xfrm>
            <a:off x="1391939" y="859732"/>
            <a:ext cx="528063" cy="139032"/>
          </a:xfrm>
          <a:prstGeom prst="rect">
            <a:avLst/>
          </a:prstGeom>
        </p:spPr>
        <p:txBody>
          <a:bodyPr lIns="0" tIns="0" rIns="0" bIns="0" rtlCol="0" anchor="t">
            <a:spAutoFit/>
          </a:bodyPr>
          <a:lstStyle/>
          <a:p>
            <a:pPr algn="l">
              <a:lnSpc>
                <a:spcPts val="1077"/>
              </a:lnSpc>
              <a:spcBef>
                <a:spcPct val="0"/>
              </a:spcBef>
            </a:pPr>
            <a:r>
              <a:rPr lang="en-US" sz="997">
                <a:solidFill>
                  <a:srgbClr val="FFFFFF"/>
                </a:solidFill>
                <a:latin typeface="Poppins Light"/>
                <a:ea typeface="Poppins Light"/>
                <a:cs typeface="Poppins Light"/>
                <a:sym typeface="Poppins Light"/>
              </a:rPr>
              <a:t>PAGE 2</a:t>
            </a:r>
          </a:p>
        </p:txBody>
      </p:sp>
      <p:sp>
        <p:nvSpPr>
          <p:cNvPr id="19" name="Freeform 19"/>
          <p:cNvSpPr/>
          <p:nvPr/>
        </p:nvSpPr>
        <p:spPr>
          <a:xfrm>
            <a:off x="9144000" y="6838882"/>
            <a:ext cx="5798308" cy="2033701"/>
          </a:xfrm>
          <a:custGeom>
            <a:avLst/>
            <a:gdLst/>
            <a:ahLst/>
            <a:cxnLst/>
            <a:rect l="l" t="t" r="r" b="b"/>
            <a:pathLst>
              <a:path w="5798308" h="2033701">
                <a:moveTo>
                  <a:pt x="0" y="0"/>
                </a:moveTo>
                <a:lnTo>
                  <a:pt x="5798308" y="0"/>
                </a:lnTo>
                <a:lnTo>
                  <a:pt x="5798308" y="2033701"/>
                </a:lnTo>
                <a:lnTo>
                  <a:pt x="0" y="2033701"/>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sp>
      <p:sp>
        <p:nvSpPr>
          <p:cNvPr id="20" name="TextBox 20"/>
          <p:cNvSpPr txBox="1"/>
          <p:nvPr/>
        </p:nvSpPr>
        <p:spPr>
          <a:xfrm>
            <a:off x="1391939" y="3550026"/>
            <a:ext cx="8134832" cy="3184444"/>
          </a:xfrm>
          <a:prstGeom prst="rect">
            <a:avLst/>
          </a:prstGeom>
        </p:spPr>
        <p:txBody>
          <a:bodyPr lIns="0" tIns="0" rIns="0" bIns="0" rtlCol="0" anchor="t">
            <a:spAutoFit/>
          </a:bodyPr>
          <a:lstStyle/>
          <a:p>
            <a:pPr algn="ctr">
              <a:lnSpc>
                <a:spcPts val="2825"/>
              </a:lnSpc>
            </a:pPr>
            <a:r>
              <a:rPr lang="en-US" sz="2062">
                <a:solidFill>
                  <a:srgbClr val="FFFFFF"/>
                </a:solidFill>
                <a:latin typeface="Poppins Light"/>
                <a:ea typeface="Poppins Light"/>
                <a:cs typeface="Poppins Light"/>
                <a:sym typeface="Poppins Light"/>
              </a:rPr>
              <a:t>With the growth of blockchain networks, security threats such as unauthorized intrusions have become increasingly sophisticated, challenging traditional detection mechanisms. The existing Intrusion Detection Systems (IDS) often lack the ability to adapt to evolving attack patterns and may suffer from centralized vulnerabilities or delayed responses. </a:t>
            </a:r>
          </a:p>
          <a:p>
            <a:pPr algn="ctr">
              <a:lnSpc>
                <a:spcPts val="2825"/>
              </a:lnSpc>
            </a:pPr>
            <a:endParaRPr lang="en-US" sz="2062">
              <a:solidFill>
                <a:srgbClr val="FFFFFF"/>
              </a:solidFill>
              <a:latin typeface="Poppins Light"/>
              <a:ea typeface="Poppins Light"/>
              <a:cs typeface="Poppins Light"/>
              <a:sym typeface="Poppins Light"/>
            </a:endParaRPr>
          </a:p>
          <a:p>
            <a:pPr algn="ctr">
              <a:lnSpc>
                <a:spcPts val="2825"/>
              </a:lnSpc>
            </a:pPr>
            <a:endParaRPr lang="en-US" sz="2062">
              <a:solidFill>
                <a:srgbClr val="FFFFFF"/>
              </a:solidFill>
              <a:latin typeface="Poppins Light"/>
              <a:ea typeface="Poppins Light"/>
              <a:cs typeface="Poppins Light"/>
              <a:sym typeface="Poppins Light"/>
            </a:endParaRPr>
          </a:p>
          <a:p>
            <a:pPr algn="ctr">
              <a:lnSpc>
                <a:spcPts val="2825"/>
              </a:lnSpc>
            </a:pPr>
            <a:endParaRPr lang="en-US" sz="2062">
              <a:solidFill>
                <a:srgbClr val="FFFFFF"/>
              </a:solidFill>
              <a:latin typeface="Poppins Light"/>
              <a:ea typeface="Poppins Light"/>
              <a:cs typeface="Poppins Light"/>
              <a:sym typeface="Poppi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5555" b="-5555"/>
            </a:stretch>
          </a:blipFill>
        </p:spPr>
      </p:sp>
      <p:grpSp>
        <p:nvGrpSpPr>
          <p:cNvPr id="3" name="Group 3"/>
          <p:cNvGrpSpPr/>
          <p:nvPr/>
        </p:nvGrpSpPr>
        <p:grpSpPr>
          <a:xfrm>
            <a:off x="862708" y="795954"/>
            <a:ext cx="331984" cy="202810"/>
            <a:chOff x="0" y="0"/>
            <a:chExt cx="442646" cy="270414"/>
          </a:xfrm>
        </p:grpSpPr>
        <p:grpSp>
          <p:nvGrpSpPr>
            <p:cNvPr id="4" name="Group 4"/>
            <p:cNvGrpSpPr/>
            <p:nvPr/>
          </p:nvGrpSpPr>
          <p:grpSpPr>
            <a:xfrm>
              <a:off x="0" y="0"/>
              <a:ext cx="442646" cy="63500"/>
              <a:chOff x="0" y="0"/>
              <a:chExt cx="87436" cy="12543"/>
            </a:xfrm>
          </p:grpSpPr>
          <p:sp>
            <p:nvSpPr>
              <p:cNvPr id="5" name="Freeform 5"/>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6" name="TextBox 6"/>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7" name="Group 7"/>
            <p:cNvGrpSpPr/>
            <p:nvPr/>
          </p:nvGrpSpPr>
          <p:grpSpPr>
            <a:xfrm>
              <a:off x="0" y="105314"/>
              <a:ext cx="442646" cy="63500"/>
              <a:chOff x="0" y="0"/>
              <a:chExt cx="87436" cy="12543"/>
            </a:xfrm>
          </p:grpSpPr>
          <p:sp>
            <p:nvSpPr>
              <p:cNvPr id="8" name="Freeform 8"/>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9" name="TextBox 9"/>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10" name="Group 10"/>
            <p:cNvGrpSpPr/>
            <p:nvPr/>
          </p:nvGrpSpPr>
          <p:grpSpPr>
            <a:xfrm>
              <a:off x="0" y="206914"/>
              <a:ext cx="442646" cy="63500"/>
              <a:chOff x="0" y="0"/>
              <a:chExt cx="87436" cy="12543"/>
            </a:xfrm>
          </p:grpSpPr>
          <p:sp>
            <p:nvSpPr>
              <p:cNvPr id="11" name="Freeform 11"/>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12" name="TextBox 12"/>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sp>
        <p:nvSpPr>
          <p:cNvPr id="13" name="Freeform 13"/>
          <p:cNvSpPr/>
          <p:nvPr/>
        </p:nvSpPr>
        <p:spPr>
          <a:xfrm>
            <a:off x="16927006" y="746082"/>
            <a:ext cx="332294" cy="302554"/>
          </a:xfrm>
          <a:custGeom>
            <a:avLst/>
            <a:gdLst/>
            <a:ahLst/>
            <a:cxnLst/>
            <a:rect l="l" t="t" r="r" b="b"/>
            <a:pathLst>
              <a:path w="332294" h="302554">
                <a:moveTo>
                  <a:pt x="0" y="0"/>
                </a:moveTo>
                <a:lnTo>
                  <a:pt x="332294" y="0"/>
                </a:lnTo>
                <a:lnTo>
                  <a:pt x="332294" y="302554"/>
                </a:lnTo>
                <a:lnTo>
                  <a:pt x="0" y="302554"/>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4" name="Group 14"/>
          <p:cNvGrpSpPr/>
          <p:nvPr/>
        </p:nvGrpSpPr>
        <p:grpSpPr>
          <a:xfrm>
            <a:off x="-1166098" y="1781684"/>
            <a:ext cx="20465418" cy="1637823"/>
            <a:chOff x="0" y="0"/>
            <a:chExt cx="5390069" cy="431361"/>
          </a:xfrm>
        </p:grpSpPr>
        <p:sp>
          <p:nvSpPr>
            <p:cNvPr id="15" name="Freeform 15"/>
            <p:cNvSpPr/>
            <p:nvPr/>
          </p:nvSpPr>
          <p:spPr>
            <a:xfrm>
              <a:off x="0" y="0"/>
              <a:ext cx="5390069" cy="431361"/>
            </a:xfrm>
            <a:custGeom>
              <a:avLst/>
              <a:gdLst/>
              <a:ahLst/>
              <a:cxnLst/>
              <a:rect l="l" t="t" r="r" b="b"/>
              <a:pathLst>
                <a:path w="5390069" h="431361">
                  <a:moveTo>
                    <a:pt x="0" y="0"/>
                  </a:moveTo>
                  <a:lnTo>
                    <a:pt x="5390069" y="0"/>
                  </a:lnTo>
                  <a:lnTo>
                    <a:pt x="5390069" y="431361"/>
                  </a:lnTo>
                  <a:lnTo>
                    <a:pt x="0" y="431361"/>
                  </a:lnTo>
                  <a:close/>
                </a:path>
              </a:pathLst>
            </a:custGeom>
            <a:gradFill rotWithShape="1">
              <a:gsLst>
                <a:gs pos="0">
                  <a:srgbClr val="071121">
                    <a:alpha val="100000"/>
                  </a:srgbClr>
                </a:gs>
                <a:gs pos="50000">
                  <a:srgbClr val="4F5661">
                    <a:alpha val="78500"/>
                  </a:srgbClr>
                </a:gs>
                <a:gs pos="100000">
                  <a:srgbClr val="060F1F">
                    <a:alpha val="0"/>
                  </a:srgbClr>
                </a:gs>
              </a:gsLst>
              <a:lin ang="0"/>
            </a:gradFill>
          </p:spPr>
        </p:sp>
        <p:sp>
          <p:nvSpPr>
            <p:cNvPr id="16" name="TextBox 16"/>
            <p:cNvSpPr txBox="1"/>
            <p:nvPr/>
          </p:nvSpPr>
          <p:spPr>
            <a:xfrm>
              <a:off x="0" y="0"/>
              <a:ext cx="5390069" cy="431361"/>
            </a:xfrm>
            <a:prstGeom prst="rect">
              <a:avLst/>
            </a:prstGeom>
          </p:spPr>
          <p:txBody>
            <a:bodyPr lIns="50800" tIns="50800" rIns="50800" bIns="50800" rtlCol="0" anchor="ctr"/>
            <a:lstStyle/>
            <a:p>
              <a:pPr algn="ctr">
                <a:lnSpc>
                  <a:spcPts val="1917"/>
                </a:lnSpc>
              </a:pPr>
              <a:endParaRPr/>
            </a:p>
          </p:txBody>
        </p:sp>
      </p:grpSp>
      <p:sp>
        <p:nvSpPr>
          <p:cNvPr id="17" name="TextBox 17"/>
          <p:cNvSpPr txBox="1"/>
          <p:nvPr/>
        </p:nvSpPr>
        <p:spPr>
          <a:xfrm>
            <a:off x="1391939" y="859732"/>
            <a:ext cx="528063" cy="139032"/>
          </a:xfrm>
          <a:prstGeom prst="rect">
            <a:avLst/>
          </a:prstGeom>
        </p:spPr>
        <p:txBody>
          <a:bodyPr lIns="0" tIns="0" rIns="0" bIns="0" rtlCol="0" anchor="t">
            <a:spAutoFit/>
          </a:bodyPr>
          <a:lstStyle/>
          <a:p>
            <a:pPr algn="l">
              <a:lnSpc>
                <a:spcPts val="1077"/>
              </a:lnSpc>
              <a:spcBef>
                <a:spcPct val="0"/>
              </a:spcBef>
            </a:pPr>
            <a:r>
              <a:rPr lang="en-US" sz="997">
                <a:solidFill>
                  <a:srgbClr val="FFFFFF"/>
                </a:solidFill>
                <a:latin typeface="Poppins Light"/>
                <a:ea typeface="Poppins Light"/>
                <a:cs typeface="Poppins Light"/>
                <a:sym typeface="Poppins Light"/>
              </a:rPr>
              <a:t>PAGE 3</a:t>
            </a:r>
          </a:p>
        </p:txBody>
      </p:sp>
      <p:sp>
        <p:nvSpPr>
          <p:cNvPr id="18" name="TextBox 18"/>
          <p:cNvSpPr txBox="1"/>
          <p:nvPr/>
        </p:nvSpPr>
        <p:spPr>
          <a:xfrm>
            <a:off x="2760343" y="2231972"/>
            <a:ext cx="12767313" cy="784873"/>
          </a:xfrm>
          <a:prstGeom prst="rect">
            <a:avLst/>
          </a:prstGeom>
        </p:spPr>
        <p:txBody>
          <a:bodyPr lIns="0" tIns="0" rIns="0" bIns="0" rtlCol="0" anchor="t">
            <a:spAutoFit/>
          </a:bodyPr>
          <a:lstStyle/>
          <a:p>
            <a:pPr algn="ctr">
              <a:lnSpc>
                <a:spcPts val="5939"/>
              </a:lnSpc>
              <a:spcBef>
                <a:spcPct val="0"/>
              </a:spcBef>
            </a:pPr>
            <a:r>
              <a:rPr lang="en-US" sz="5499" spc="692">
                <a:solidFill>
                  <a:srgbClr val="FFFFFF"/>
                </a:solidFill>
                <a:latin typeface="HK Modular"/>
                <a:ea typeface="HK Modular"/>
                <a:cs typeface="HK Modular"/>
                <a:sym typeface="HK Modular"/>
              </a:rPr>
              <a:t>Literature survey</a:t>
            </a:r>
          </a:p>
        </p:txBody>
      </p:sp>
      <p:sp>
        <p:nvSpPr>
          <p:cNvPr id="19" name="TextBox 19"/>
          <p:cNvSpPr txBox="1"/>
          <p:nvPr/>
        </p:nvSpPr>
        <p:spPr>
          <a:xfrm>
            <a:off x="2499805" y="4034547"/>
            <a:ext cx="13133612" cy="5216428"/>
          </a:xfrm>
          <a:prstGeom prst="rect">
            <a:avLst/>
          </a:prstGeom>
        </p:spPr>
        <p:txBody>
          <a:bodyPr lIns="0" tIns="0" rIns="0" bIns="0" rtlCol="0" anchor="t">
            <a:spAutoFit/>
          </a:bodyPr>
          <a:lstStyle/>
          <a:p>
            <a:pPr algn="ctr">
              <a:lnSpc>
                <a:spcPts val="2825"/>
              </a:lnSpc>
            </a:pPr>
            <a:r>
              <a:rPr lang="en-US" sz="2062" dirty="0">
                <a:solidFill>
                  <a:schemeClr val="bg1"/>
                </a:solidFill>
                <a:latin typeface="Poppins" panose="00000500000000000000" pitchFamily="2" charset="0"/>
                <a:ea typeface="Poppins"/>
                <a:cs typeface="Poppins" panose="00000500000000000000" pitchFamily="2" charset="0"/>
                <a:sym typeface="Poppins"/>
              </a:rPr>
              <a:t>Deep Learning IDS (</a:t>
            </a:r>
            <a:r>
              <a:rPr lang="en-US" sz="2062" dirty="0" err="1">
                <a:solidFill>
                  <a:schemeClr val="bg1"/>
                </a:solidFill>
                <a:latin typeface="Poppins" panose="00000500000000000000" pitchFamily="2" charset="0"/>
                <a:ea typeface="Poppins"/>
                <a:cs typeface="Poppins" panose="00000500000000000000" pitchFamily="2" charset="0"/>
                <a:sym typeface="Poppins"/>
              </a:rPr>
              <a:t>BiLSTM</a:t>
            </a:r>
            <a:r>
              <a:rPr lang="en-US" sz="2062" dirty="0">
                <a:solidFill>
                  <a:schemeClr val="bg1"/>
                </a:solidFill>
                <a:latin typeface="Poppins" panose="00000500000000000000" pitchFamily="2" charset="0"/>
                <a:ea typeface="Poppins"/>
                <a:cs typeface="Poppins" panose="00000500000000000000" pitchFamily="2" charset="0"/>
                <a:sym typeface="Poppins"/>
              </a:rPr>
              <a:t>-based)</a:t>
            </a:r>
          </a:p>
          <a:p>
            <a:pPr algn="ctr">
              <a:lnSpc>
                <a:spcPts val="2825"/>
              </a:lnSpc>
            </a:pPr>
            <a:r>
              <a:rPr lang="en-US" sz="2062" dirty="0">
                <a:solidFill>
                  <a:schemeClr val="bg1"/>
                </a:solidFill>
                <a:latin typeface="Poppins" panose="00000500000000000000" pitchFamily="2" charset="0"/>
                <a:ea typeface="Poppins"/>
                <a:cs typeface="Poppins" panose="00000500000000000000" pitchFamily="2" charset="0"/>
                <a:sym typeface="Poppins"/>
              </a:rPr>
              <a:t>Recent research on </a:t>
            </a:r>
            <a:r>
              <a:rPr lang="en-US" sz="2062" dirty="0" err="1">
                <a:solidFill>
                  <a:schemeClr val="bg1"/>
                </a:solidFill>
                <a:latin typeface="Poppins" panose="00000500000000000000" pitchFamily="2" charset="0"/>
                <a:ea typeface="Poppins"/>
                <a:cs typeface="Poppins" panose="00000500000000000000" pitchFamily="2" charset="0"/>
                <a:sym typeface="Poppins"/>
              </a:rPr>
              <a:t>BiLSTM</a:t>
            </a:r>
            <a:r>
              <a:rPr lang="en-US" sz="2062" dirty="0">
                <a:solidFill>
                  <a:schemeClr val="bg1"/>
                </a:solidFill>
                <a:latin typeface="Poppins" panose="00000500000000000000" pitchFamily="2" charset="0"/>
                <a:ea typeface="Poppins"/>
                <a:cs typeface="Poppins" panose="00000500000000000000" pitchFamily="2" charset="0"/>
                <a:sym typeface="Poppins"/>
              </a:rPr>
              <a:t>-based and hybrid deep learning Intrusion Detection Systems (IDS) demonstrates improved detection performance by capturing both spatial and temporal network patterns. </a:t>
            </a:r>
          </a:p>
          <a:p>
            <a:pPr algn="ctr">
              <a:lnSpc>
                <a:spcPts val="2825"/>
              </a:lnSpc>
            </a:pPr>
            <a:endParaRPr lang="en-US" sz="2000" dirty="0">
              <a:solidFill>
                <a:schemeClr val="bg1"/>
              </a:solidFill>
              <a:latin typeface="Poppins" panose="00000500000000000000" pitchFamily="2" charset="0"/>
              <a:ea typeface="Poppins"/>
              <a:cs typeface="Poppins" panose="00000500000000000000" pitchFamily="2" charset="0"/>
              <a:sym typeface="Poppins"/>
            </a:endParaRPr>
          </a:p>
          <a:p>
            <a:r>
              <a:rPr lang="en-US" sz="2000" dirty="0">
                <a:solidFill>
                  <a:schemeClr val="bg1"/>
                </a:solidFill>
                <a:latin typeface="Poppins" panose="00000500000000000000" pitchFamily="2" charset="0"/>
                <a:cs typeface="Poppins" panose="00000500000000000000" pitchFamily="2" charset="0"/>
              </a:rPr>
              <a:t>Shortcomings of Existing Solutions:</a:t>
            </a:r>
          </a:p>
          <a:p>
            <a:pPr marL="285750" indent="-285750">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High computational complexity limits deployment on resource-constrained IoT and edge devices.</a:t>
            </a:r>
          </a:p>
          <a:p>
            <a:pPr marL="285750" indent="-285750">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Poor detection or high false positives for minority/rare attacks due to class imbalance in datasets.</a:t>
            </a:r>
          </a:p>
          <a:p>
            <a:pPr marL="285750" indent="-285750">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Most models are tested on public datasets, lacking validation in real/production network environments.</a:t>
            </a:r>
          </a:p>
          <a:p>
            <a:pPr marL="285750" indent="-285750">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Difficulty in extracting comprehensive spatiotemporal features; often neglect feature inter-dependence.</a:t>
            </a:r>
          </a:p>
          <a:p>
            <a:pPr marL="285750" indent="-285750">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Vulnerability to adversarial attacks and evolving threat patterns not addressed in standard benchmarks.</a:t>
            </a:r>
          </a:p>
          <a:p>
            <a:pPr marL="285750" indent="-285750">
              <a:buFont typeface="Arial" panose="020B0604020202020204" pitchFamily="34" charset="0"/>
              <a:buChar char="•"/>
            </a:pPr>
            <a:r>
              <a:rPr lang="en-US" sz="2000" dirty="0">
                <a:solidFill>
                  <a:schemeClr val="bg1"/>
                </a:solidFill>
                <a:latin typeface="Poppins" panose="00000500000000000000" pitchFamily="2" charset="0"/>
                <a:cs typeface="Poppins" panose="00000500000000000000" pitchFamily="2" charset="0"/>
              </a:rPr>
              <a:t>Extended training times and complex architectures hinder real-time adaptability.</a:t>
            </a:r>
          </a:p>
          <a:p>
            <a:pPr algn="ctr">
              <a:lnSpc>
                <a:spcPts val="2825"/>
              </a:lnSpc>
            </a:pPr>
            <a:endParaRPr lang="en-US" sz="2062" dirty="0">
              <a:solidFill>
                <a:schemeClr val="bg1"/>
              </a:solidFill>
              <a:latin typeface="Poppins" panose="00000500000000000000" pitchFamily="2" charset="0"/>
              <a:ea typeface="Poppins"/>
              <a:cs typeface="Poppins" panose="00000500000000000000" pitchFamily="2" charset="0"/>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5555" b="-5555"/>
            </a:stretch>
          </a:blipFill>
        </p:spPr>
      </p:sp>
      <p:grpSp>
        <p:nvGrpSpPr>
          <p:cNvPr id="3" name="Group 3"/>
          <p:cNvGrpSpPr/>
          <p:nvPr/>
        </p:nvGrpSpPr>
        <p:grpSpPr>
          <a:xfrm>
            <a:off x="862708" y="795954"/>
            <a:ext cx="331984" cy="202810"/>
            <a:chOff x="0" y="0"/>
            <a:chExt cx="442646" cy="270414"/>
          </a:xfrm>
        </p:grpSpPr>
        <p:grpSp>
          <p:nvGrpSpPr>
            <p:cNvPr id="4" name="Group 4"/>
            <p:cNvGrpSpPr/>
            <p:nvPr/>
          </p:nvGrpSpPr>
          <p:grpSpPr>
            <a:xfrm>
              <a:off x="0" y="0"/>
              <a:ext cx="442646" cy="63500"/>
              <a:chOff x="0" y="0"/>
              <a:chExt cx="87436" cy="12543"/>
            </a:xfrm>
          </p:grpSpPr>
          <p:sp>
            <p:nvSpPr>
              <p:cNvPr id="5" name="Freeform 5"/>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6" name="TextBox 6"/>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7" name="Group 7"/>
            <p:cNvGrpSpPr/>
            <p:nvPr/>
          </p:nvGrpSpPr>
          <p:grpSpPr>
            <a:xfrm>
              <a:off x="0" y="105314"/>
              <a:ext cx="442646" cy="63500"/>
              <a:chOff x="0" y="0"/>
              <a:chExt cx="87436" cy="12543"/>
            </a:xfrm>
          </p:grpSpPr>
          <p:sp>
            <p:nvSpPr>
              <p:cNvPr id="8" name="Freeform 8"/>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9" name="TextBox 9"/>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10" name="Group 10"/>
            <p:cNvGrpSpPr/>
            <p:nvPr/>
          </p:nvGrpSpPr>
          <p:grpSpPr>
            <a:xfrm>
              <a:off x="0" y="206914"/>
              <a:ext cx="442646" cy="63500"/>
              <a:chOff x="0" y="0"/>
              <a:chExt cx="87436" cy="12543"/>
            </a:xfrm>
          </p:grpSpPr>
          <p:sp>
            <p:nvSpPr>
              <p:cNvPr id="11" name="Freeform 11"/>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12" name="TextBox 12"/>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sp>
        <p:nvSpPr>
          <p:cNvPr id="13" name="Freeform 13"/>
          <p:cNvSpPr/>
          <p:nvPr/>
        </p:nvSpPr>
        <p:spPr>
          <a:xfrm>
            <a:off x="16927006" y="746082"/>
            <a:ext cx="332294" cy="302554"/>
          </a:xfrm>
          <a:custGeom>
            <a:avLst/>
            <a:gdLst/>
            <a:ahLst/>
            <a:cxnLst/>
            <a:rect l="l" t="t" r="r" b="b"/>
            <a:pathLst>
              <a:path w="332294" h="302554">
                <a:moveTo>
                  <a:pt x="0" y="0"/>
                </a:moveTo>
                <a:lnTo>
                  <a:pt x="332294" y="0"/>
                </a:lnTo>
                <a:lnTo>
                  <a:pt x="332294" y="302554"/>
                </a:lnTo>
                <a:lnTo>
                  <a:pt x="0" y="30255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4" name="Freeform 14"/>
          <p:cNvSpPr/>
          <p:nvPr/>
        </p:nvSpPr>
        <p:spPr>
          <a:xfrm rot="-5400000" flipV="1">
            <a:off x="3407894" y="-149339"/>
            <a:ext cx="6732898" cy="10764808"/>
          </a:xfrm>
          <a:custGeom>
            <a:avLst/>
            <a:gdLst/>
            <a:ahLst/>
            <a:cxnLst/>
            <a:rect l="l" t="t" r="r" b="b"/>
            <a:pathLst>
              <a:path w="6732898" h="10764808">
                <a:moveTo>
                  <a:pt x="0" y="10764809"/>
                </a:moveTo>
                <a:lnTo>
                  <a:pt x="6732899" y="10764809"/>
                </a:lnTo>
                <a:lnTo>
                  <a:pt x="6732899" y="0"/>
                </a:lnTo>
                <a:lnTo>
                  <a:pt x="0" y="0"/>
                </a:lnTo>
                <a:lnTo>
                  <a:pt x="0" y="10764809"/>
                </a:lnTo>
                <a:close/>
              </a:path>
            </a:pathLst>
          </a:custGeom>
          <a:blipFill>
            <a:blip>
              <a:alphaModFix amt="65999"/>
              <a:extLst>
                <a:ext uri="{96DAC541-7B7A-43D3-8B79-37D633B846F1}">
                  <asvg:svgBlip xmlns:asvg="http://schemas.microsoft.com/office/drawing/2016/SVG/main" r:embed="rId4"/>
                </a:ext>
              </a:extLst>
            </a:blip>
            <a:stretch>
              <a:fillRect/>
            </a:stretch>
          </a:blipFill>
        </p:spPr>
      </p:sp>
      <p:grpSp>
        <p:nvGrpSpPr>
          <p:cNvPr id="15" name="Group 15"/>
          <p:cNvGrpSpPr>
            <a:grpSpLocks noChangeAspect="1"/>
          </p:cNvGrpSpPr>
          <p:nvPr/>
        </p:nvGrpSpPr>
        <p:grpSpPr>
          <a:xfrm>
            <a:off x="13010476" y="1358302"/>
            <a:ext cx="3916530" cy="7749528"/>
            <a:chOff x="0" y="0"/>
            <a:chExt cx="2620010" cy="5184140"/>
          </a:xfrm>
        </p:grpSpPr>
        <p:sp>
          <p:nvSpPr>
            <p:cNvPr id="16" name="Freeform 1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7" name="Freeform 1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112628" r="-112628"/>
              </a:stretch>
            </a:blipFill>
          </p:spPr>
        </p:sp>
        <p:sp>
          <p:nvSpPr>
            <p:cNvPr id="18" name="Freeform 1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id="19" name="Freeform 1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sp>
        <p:sp>
          <p:nvSpPr>
            <p:cNvPr id="20" name="Freeform 2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id="21" name="Freeform 2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id="22" name="Freeform 2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id="23" name="Freeform 2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id="24" name="Freeform 2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id="25" name="TextBox 25"/>
          <p:cNvSpPr txBox="1"/>
          <p:nvPr/>
        </p:nvSpPr>
        <p:spPr>
          <a:xfrm>
            <a:off x="1391939" y="859732"/>
            <a:ext cx="528063" cy="139032"/>
          </a:xfrm>
          <a:prstGeom prst="rect">
            <a:avLst/>
          </a:prstGeom>
        </p:spPr>
        <p:txBody>
          <a:bodyPr lIns="0" tIns="0" rIns="0" bIns="0" rtlCol="0" anchor="t">
            <a:spAutoFit/>
          </a:bodyPr>
          <a:lstStyle/>
          <a:p>
            <a:pPr algn="l">
              <a:lnSpc>
                <a:spcPts val="1077"/>
              </a:lnSpc>
              <a:spcBef>
                <a:spcPct val="0"/>
              </a:spcBef>
            </a:pPr>
            <a:r>
              <a:rPr lang="en-US" sz="997">
                <a:solidFill>
                  <a:srgbClr val="FFFFFF"/>
                </a:solidFill>
                <a:latin typeface="Poppins Light"/>
                <a:ea typeface="Poppins Light"/>
                <a:cs typeface="Poppins Light"/>
                <a:sym typeface="Poppins Light"/>
              </a:rPr>
              <a:t>PAGE 7</a:t>
            </a:r>
          </a:p>
        </p:txBody>
      </p:sp>
      <p:sp>
        <p:nvSpPr>
          <p:cNvPr id="26" name="TextBox 26"/>
          <p:cNvSpPr txBox="1"/>
          <p:nvPr/>
        </p:nvSpPr>
        <p:spPr>
          <a:xfrm>
            <a:off x="2887632" y="3068503"/>
            <a:ext cx="6914037" cy="1434695"/>
          </a:xfrm>
          <a:prstGeom prst="rect">
            <a:avLst/>
          </a:prstGeom>
        </p:spPr>
        <p:txBody>
          <a:bodyPr lIns="0" tIns="0" rIns="0" bIns="0" rtlCol="0" anchor="t">
            <a:spAutoFit/>
          </a:bodyPr>
          <a:lstStyle/>
          <a:p>
            <a:pPr algn="l">
              <a:lnSpc>
                <a:spcPts val="5566"/>
              </a:lnSpc>
              <a:spcBef>
                <a:spcPct val="0"/>
              </a:spcBef>
            </a:pPr>
            <a:r>
              <a:rPr lang="en-US" sz="5154" spc="649">
                <a:solidFill>
                  <a:srgbClr val="FFFFFF"/>
                </a:solidFill>
                <a:latin typeface="HK Modular"/>
                <a:ea typeface="HK Modular"/>
                <a:cs typeface="HK Modular"/>
                <a:sym typeface="HK Modular"/>
              </a:rPr>
              <a:t>Problem statement</a:t>
            </a:r>
          </a:p>
        </p:txBody>
      </p:sp>
      <p:sp>
        <p:nvSpPr>
          <p:cNvPr id="27" name="TextBox 27"/>
          <p:cNvSpPr txBox="1"/>
          <p:nvPr/>
        </p:nvSpPr>
        <p:spPr>
          <a:xfrm>
            <a:off x="2887632" y="4905554"/>
            <a:ext cx="7164307" cy="2479594"/>
          </a:xfrm>
          <a:prstGeom prst="rect">
            <a:avLst/>
          </a:prstGeom>
        </p:spPr>
        <p:txBody>
          <a:bodyPr lIns="0" tIns="0" rIns="0" bIns="0" rtlCol="0" anchor="t">
            <a:spAutoFit/>
          </a:bodyPr>
          <a:lstStyle/>
          <a:p>
            <a:pPr algn="l">
              <a:lnSpc>
                <a:spcPts val="2825"/>
              </a:lnSpc>
            </a:pPr>
            <a:r>
              <a:rPr lang="en-US" sz="2062" dirty="0">
                <a:solidFill>
                  <a:srgbClr val="FFFFFF"/>
                </a:solidFill>
                <a:latin typeface="Poppins Light"/>
                <a:ea typeface="Poppins Light"/>
                <a:cs typeface="Poppins Light"/>
                <a:sym typeface="Poppins Light"/>
              </a:rPr>
              <a:t>This project aims to develop a decentralized IDS model leveraging deep </a:t>
            </a:r>
            <a:r>
              <a:rPr lang="en-US" sz="2062" b="1" dirty="0">
                <a:solidFill>
                  <a:srgbClr val="FFFFFF"/>
                </a:solidFill>
                <a:latin typeface="Poppins Bold"/>
                <a:ea typeface="Poppins Bold"/>
                <a:cs typeface="Poppins Bold"/>
                <a:sym typeface="Poppins Bold"/>
              </a:rPr>
              <a:t>Long Short-Term Memory (LSTM)</a:t>
            </a:r>
            <a:r>
              <a:rPr lang="en-US" sz="2062" dirty="0">
                <a:solidFill>
                  <a:srgbClr val="FFFFFF"/>
                </a:solidFill>
                <a:latin typeface="Poppins Light"/>
                <a:ea typeface="Poppins Light"/>
                <a:cs typeface="Poppins Light"/>
                <a:sym typeface="Poppins Light"/>
              </a:rPr>
              <a:t> networks for sequential anomaly detection, integrated with </a:t>
            </a:r>
            <a:r>
              <a:rPr lang="en-US" sz="2062" b="1" dirty="0">
                <a:solidFill>
                  <a:srgbClr val="FFFFFF"/>
                </a:solidFill>
                <a:latin typeface="Poppins Bold"/>
                <a:ea typeface="Poppins Bold"/>
                <a:cs typeface="Poppins Bold"/>
                <a:sym typeface="Poppins Bold"/>
              </a:rPr>
              <a:t>blockchain technology to provide tamper-proof incident logs</a:t>
            </a:r>
            <a:r>
              <a:rPr lang="en-US" sz="2062" dirty="0">
                <a:solidFill>
                  <a:srgbClr val="FFFFFF"/>
                </a:solidFill>
                <a:latin typeface="Poppins Light"/>
                <a:ea typeface="Poppins Light"/>
                <a:cs typeface="Poppins Light"/>
                <a:sym typeface="Poppins Light"/>
              </a:rPr>
              <a:t> and consensus-driven alert validation, ensuring accuracy, adaptability, and trustworthiness in dynamic blockchain environments.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5555" b="-5555"/>
            </a:stretch>
          </a:blipFill>
        </p:spPr>
      </p:sp>
      <p:grpSp>
        <p:nvGrpSpPr>
          <p:cNvPr id="3" name="Group 3"/>
          <p:cNvGrpSpPr/>
          <p:nvPr/>
        </p:nvGrpSpPr>
        <p:grpSpPr>
          <a:xfrm>
            <a:off x="862708" y="795954"/>
            <a:ext cx="331984" cy="202810"/>
            <a:chOff x="0" y="0"/>
            <a:chExt cx="442646" cy="270414"/>
          </a:xfrm>
        </p:grpSpPr>
        <p:grpSp>
          <p:nvGrpSpPr>
            <p:cNvPr id="4" name="Group 4"/>
            <p:cNvGrpSpPr/>
            <p:nvPr/>
          </p:nvGrpSpPr>
          <p:grpSpPr>
            <a:xfrm>
              <a:off x="0" y="0"/>
              <a:ext cx="442646" cy="63500"/>
              <a:chOff x="0" y="0"/>
              <a:chExt cx="87436" cy="12543"/>
            </a:xfrm>
          </p:grpSpPr>
          <p:sp>
            <p:nvSpPr>
              <p:cNvPr id="5" name="Freeform 5"/>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6" name="TextBox 6"/>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7" name="Group 7"/>
            <p:cNvGrpSpPr/>
            <p:nvPr/>
          </p:nvGrpSpPr>
          <p:grpSpPr>
            <a:xfrm>
              <a:off x="0" y="105314"/>
              <a:ext cx="442646" cy="63500"/>
              <a:chOff x="0" y="0"/>
              <a:chExt cx="87436" cy="12543"/>
            </a:xfrm>
          </p:grpSpPr>
          <p:sp>
            <p:nvSpPr>
              <p:cNvPr id="8" name="Freeform 8"/>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9" name="TextBox 9"/>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10" name="Group 10"/>
            <p:cNvGrpSpPr/>
            <p:nvPr/>
          </p:nvGrpSpPr>
          <p:grpSpPr>
            <a:xfrm>
              <a:off x="0" y="206914"/>
              <a:ext cx="442646" cy="63500"/>
              <a:chOff x="0" y="0"/>
              <a:chExt cx="87436" cy="12543"/>
            </a:xfrm>
          </p:grpSpPr>
          <p:sp>
            <p:nvSpPr>
              <p:cNvPr id="11" name="Freeform 11"/>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12" name="TextBox 12"/>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sp>
        <p:nvSpPr>
          <p:cNvPr id="13" name="Freeform 13"/>
          <p:cNvSpPr/>
          <p:nvPr/>
        </p:nvSpPr>
        <p:spPr>
          <a:xfrm>
            <a:off x="16927006" y="746082"/>
            <a:ext cx="332294" cy="302554"/>
          </a:xfrm>
          <a:custGeom>
            <a:avLst/>
            <a:gdLst/>
            <a:ahLst/>
            <a:cxnLst/>
            <a:rect l="l" t="t" r="r" b="b"/>
            <a:pathLst>
              <a:path w="332294" h="302554">
                <a:moveTo>
                  <a:pt x="0" y="0"/>
                </a:moveTo>
                <a:lnTo>
                  <a:pt x="332294" y="0"/>
                </a:lnTo>
                <a:lnTo>
                  <a:pt x="332294" y="302554"/>
                </a:lnTo>
                <a:lnTo>
                  <a:pt x="0" y="302554"/>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4" name="Group 14"/>
          <p:cNvGrpSpPr/>
          <p:nvPr/>
        </p:nvGrpSpPr>
        <p:grpSpPr>
          <a:xfrm>
            <a:off x="1920002" y="3486150"/>
            <a:ext cx="1118380" cy="1301387"/>
            <a:chOff x="0" y="0"/>
            <a:chExt cx="698500" cy="812800"/>
          </a:xfrm>
        </p:grpSpPr>
        <p:sp>
          <p:nvSpPr>
            <p:cNvPr id="15" name="Freeform 1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71121">
                    <a:alpha val="100000"/>
                  </a:srgbClr>
                </a:gs>
                <a:gs pos="50000">
                  <a:srgbClr val="4F5661">
                    <a:alpha val="78500"/>
                  </a:srgbClr>
                </a:gs>
                <a:gs pos="100000">
                  <a:srgbClr val="060F1F">
                    <a:alpha val="0"/>
                  </a:srgbClr>
                </a:gs>
              </a:gsLst>
              <a:lin ang="5400000"/>
            </a:gradFill>
          </p:spPr>
        </p:sp>
        <p:sp>
          <p:nvSpPr>
            <p:cNvPr id="16" name="TextBox 16"/>
            <p:cNvSpPr txBox="1"/>
            <p:nvPr/>
          </p:nvSpPr>
          <p:spPr>
            <a:xfrm>
              <a:off x="0" y="139700"/>
              <a:ext cx="698500" cy="533400"/>
            </a:xfrm>
            <a:prstGeom prst="rect">
              <a:avLst/>
            </a:prstGeom>
          </p:spPr>
          <p:txBody>
            <a:bodyPr lIns="50800" tIns="50800" rIns="50800" bIns="50800" rtlCol="0" anchor="ctr"/>
            <a:lstStyle/>
            <a:p>
              <a:pPr algn="ctr">
                <a:lnSpc>
                  <a:spcPts val="1917"/>
                </a:lnSpc>
              </a:pPr>
              <a:endParaRPr/>
            </a:p>
          </p:txBody>
        </p:sp>
      </p:grpSp>
      <p:grpSp>
        <p:nvGrpSpPr>
          <p:cNvPr id="17" name="Group 17"/>
          <p:cNvGrpSpPr/>
          <p:nvPr/>
        </p:nvGrpSpPr>
        <p:grpSpPr>
          <a:xfrm>
            <a:off x="6983775" y="3486150"/>
            <a:ext cx="1118380" cy="1301387"/>
            <a:chOff x="0" y="0"/>
            <a:chExt cx="698500" cy="812800"/>
          </a:xfrm>
        </p:grpSpPr>
        <p:sp>
          <p:nvSpPr>
            <p:cNvPr id="18" name="Freeform 18"/>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71121">
                    <a:alpha val="100000"/>
                  </a:srgbClr>
                </a:gs>
                <a:gs pos="50000">
                  <a:srgbClr val="4F5661">
                    <a:alpha val="78500"/>
                  </a:srgbClr>
                </a:gs>
                <a:gs pos="100000">
                  <a:srgbClr val="060F1F">
                    <a:alpha val="0"/>
                  </a:srgbClr>
                </a:gs>
              </a:gsLst>
              <a:lin ang="5400000"/>
            </a:gradFill>
          </p:spPr>
        </p:sp>
        <p:sp>
          <p:nvSpPr>
            <p:cNvPr id="19" name="TextBox 19"/>
            <p:cNvSpPr txBox="1"/>
            <p:nvPr/>
          </p:nvSpPr>
          <p:spPr>
            <a:xfrm>
              <a:off x="0" y="139700"/>
              <a:ext cx="698500" cy="533400"/>
            </a:xfrm>
            <a:prstGeom prst="rect">
              <a:avLst/>
            </a:prstGeom>
          </p:spPr>
          <p:txBody>
            <a:bodyPr lIns="50800" tIns="50800" rIns="50800" bIns="50800" rtlCol="0" anchor="ctr"/>
            <a:lstStyle/>
            <a:p>
              <a:pPr algn="ctr">
                <a:lnSpc>
                  <a:spcPts val="1917"/>
                </a:lnSpc>
              </a:pPr>
              <a:endParaRPr/>
            </a:p>
          </p:txBody>
        </p:sp>
      </p:grpSp>
      <p:grpSp>
        <p:nvGrpSpPr>
          <p:cNvPr id="20" name="Group 20"/>
          <p:cNvGrpSpPr/>
          <p:nvPr/>
        </p:nvGrpSpPr>
        <p:grpSpPr>
          <a:xfrm>
            <a:off x="12047548" y="3486150"/>
            <a:ext cx="1118380" cy="1301387"/>
            <a:chOff x="0" y="0"/>
            <a:chExt cx="698500" cy="812800"/>
          </a:xfrm>
        </p:grpSpPr>
        <p:sp>
          <p:nvSpPr>
            <p:cNvPr id="21" name="Freeform 2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71121">
                    <a:alpha val="100000"/>
                  </a:srgbClr>
                </a:gs>
                <a:gs pos="50000">
                  <a:srgbClr val="4F5661">
                    <a:alpha val="78500"/>
                  </a:srgbClr>
                </a:gs>
                <a:gs pos="100000">
                  <a:srgbClr val="060F1F">
                    <a:alpha val="0"/>
                  </a:srgbClr>
                </a:gs>
              </a:gsLst>
              <a:lin ang="5400000"/>
            </a:gradFill>
          </p:spPr>
        </p:sp>
        <p:sp>
          <p:nvSpPr>
            <p:cNvPr id="22" name="TextBox 22"/>
            <p:cNvSpPr txBox="1"/>
            <p:nvPr/>
          </p:nvSpPr>
          <p:spPr>
            <a:xfrm>
              <a:off x="0" y="139700"/>
              <a:ext cx="698500" cy="533400"/>
            </a:xfrm>
            <a:prstGeom prst="rect">
              <a:avLst/>
            </a:prstGeom>
          </p:spPr>
          <p:txBody>
            <a:bodyPr lIns="50800" tIns="50800" rIns="50800" bIns="50800" rtlCol="0" anchor="ctr"/>
            <a:lstStyle/>
            <a:p>
              <a:pPr algn="ctr">
                <a:lnSpc>
                  <a:spcPts val="1917"/>
                </a:lnSpc>
              </a:pPr>
              <a:endParaRPr/>
            </a:p>
          </p:txBody>
        </p:sp>
      </p:grpSp>
      <p:sp>
        <p:nvSpPr>
          <p:cNvPr id="23" name="Freeform 23"/>
          <p:cNvSpPr/>
          <p:nvPr/>
        </p:nvSpPr>
        <p:spPr>
          <a:xfrm>
            <a:off x="3839047" y="2189450"/>
            <a:ext cx="10609906" cy="7068850"/>
          </a:xfrm>
          <a:custGeom>
            <a:avLst/>
            <a:gdLst/>
            <a:ahLst/>
            <a:cxnLst/>
            <a:rect l="l" t="t" r="r" b="b"/>
            <a:pathLst>
              <a:path w="10609906" h="7068850">
                <a:moveTo>
                  <a:pt x="0" y="0"/>
                </a:moveTo>
                <a:lnTo>
                  <a:pt x="10609906" y="0"/>
                </a:lnTo>
                <a:lnTo>
                  <a:pt x="10609906" y="7068850"/>
                </a:lnTo>
                <a:lnTo>
                  <a:pt x="0" y="7068850"/>
                </a:lnTo>
                <a:lnTo>
                  <a:pt x="0" y="0"/>
                </a:lnTo>
                <a:close/>
              </a:path>
            </a:pathLst>
          </a:custGeom>
          <a:blipFill>
            <a:blip r:embed="rId4"/>
            <a:stretch>
              <a:fillRect/>
            </a:stretch>
          </a:blipFill>
        </p:spPr>
      </p:sp>
      <p:sp>
        <p:nvSpPr>
          <p:cNvPr id="24" name="TextBox 24"/>
          <p:cNvSpPr txBox="1"/>
          <p:nvPr/>
        </p:nvSpPr>
        <p:spPr>
          <a:xfrm>
            <a:off x="1391939" y="859732"/>
            <a:ext cx="528063" cy="139032"/>
          </a:xfrm>
          <a:prstGeom prst="rect">
            <a:avLst/>
          </a:prstGeom>
        </p:spPr>
        <p:txBody>
          <a:bodyPr lIns="0" tIns="0" rIns="0" bIns="0" rtlCol="0" anchor="t">
            <a:spAutoFit/>
          </a:bodyPr>
          <a:lstStyle/>
          <a:p>
            <a:pPr algn="l">
              <a:lnSpc>
                <a:spcPts val="1077"/>
              </a:lnSpc>
              <a:spcBef>
                <a:spcPct val="0"/>
              </a:spcBef>
            </a:pPr>
            <a:r>
              <a:rPr lang="en-US" sz="997">
                <a:solidFill>
                  <a:srgbClr val="FFFFFF"/>
                </a:solidFill>
                <a:latin typeface="Poppins Light"/>
                <a:ea typeface="Poppins Light"/>
                <a:cs typeface="Poppins Light"/>
                <a:sym typeface="Poppins Light"/>
              </a:rPr>
              <a:t>PAGE 4</a:t>
            </a:r>
          </a:p>
        </p:txBody>
      </p:sp>
      <p:sp>
        <p:nvSpPr>
          <p:cNvPr id="25" name="TextBox 25"/>
          <p:cNvSpPr txBox="1"/>
          <p:nvPr/>
        </p:nvSpPr>
        <p:spPr>
          <a:xfrm>
            <a:off x="3645626" y="916882"/>
            <a:ext cx="11275121" cy="879863"/>
          </a:xfrm>
          <a:prstGeom prst="rect">
            <a:avLst/>
          </a:prstGeom>
        </p:spPr>
        <p:txBody>
          <a:bodyPr lIns="0" tIns="0" rIns="0" bIns="0" rtlCol="0" anchor="t">
            <a:spAutoFit/>
          </a:bodyPr>
          <a:lstStyle/>
          <a:p>
            <a:pPr algn="ctr">
              <a:lnSpc>
                <a:spcPts val="6753"/>
              </a:lnSpc>
              <a:spcBef>
                <a:spcPct val="0"/>
              </a:spcBef>
            </a:pPr>
            <a:r>
              <a:rPr lang="en-US" sz="6252" spc="787">
                <a:solidFill>
                  <a:srgbClr val="FFFFFF"/>
                </a:solidFill>
                <a:latin typeface="HK Modular"/>
                <a:ea typeface="HK Modular"/>
                <a:cs typeface="HK Modular"/>
                <a:sym typeface="HK Modular"/>
              </a:rPr>
              <a:t>FlowChart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79DB9-CF33-20C4-6693-29ED51AAE92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39CA451-DAE9-300A-9D4B-C0C0E7F20777}"/>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5555" b="-5555"/>
            </a:stretch>
          </a:blipFill>
        </p:spPr>
      </p:sp>
      <p:grpSp>
        <p:nvGrpSpPr>
          <p:cNvPr id="3" name="Group 3">
            <a:extLst>
              <a:ext uri="{FF2B5EF4-FFF2-40B4-BE49-F238E27FC236}">
                <a16:creationId xmlns:a16="http://schemas.microsoft.com/office/drawing/2014/main" id="{35FDE5E0-EEBB-EECB-2257-C2123D8AF51F}"/>
              </a:ext>
            </a:extLst>
          </p:cNvPr>
          <p:cNvGrpSpPr/>
          <p:nvPr/>
        </p:nvGrpSpPr>
        <p:grpSpPr>
          <a:xfrm>
            <a:off x="862708" y="795954"/>
            <a:ext cx="331984" cy="202810"/>
            <a:chOff x="0" y="0"/>
            <a:chExt cx="442646" cy="270414"/>
          </a:xfrm>
        </p:grpSpPr>
        <p:grpSp>
          <p:nvGrpSpPr>
            <p:cNvPr id="4" name="Group 4">
              <a:extLst>
                <a:ext uri="{FF2B5EF4-FFF2-40B4-BE49-F238E27FC236}">
                  <a16:creationId xmlns:a16="http://schemas.microsoft.com/office/drawing/2014/main" id="{7D2C40AF-3C84-3625-D558-5EB06AE40819}"/>
                </a:ext>
              </a:extLst>
            </p:cNvPr>
            <p:cNvGrpSpPr/>
            <p:nvPr/>
          </p:nvGrpSpPr>
          <p:grpSpPr>
            <a:xfrm>
              <a:off x="0" y="0"/>
              <a:ext cx="442646" cy="63500"/>
              <a:chOff x="0" y="0"/>
              <a:chExt cx="87436" cy="12543"/>
            </a:xfrm>
          </p:grpSpPr>
          <p:sp>
            <p:nvSpPr>
              <p:cNvPr id="5" name="Freeform 5">
                <a:extLst>
                  <a:ext uri="{FF2B5EF4-FFF2-40B4-BE49-F238E27FC236}">
                    <a16:creationId xmlns:a16="http://schemas.microsoft.com/office/drawing/2014/main" id="{703D1262-487C-C9F0-F6E2-C6B3C09B09C8}"/>
                  </a:ext>
                </a:extLst>
              </p:cNvPr>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6" name="TextBox 6">
                <a:extLst>
                  <a:ext uri="{FF2B5EF4-FFF2-40B4-BE49-F238E27FC236}">
                    <a16:creationId xmlns:a16="http://schemas.microsoft.com/office/drawing/2014/main" id="{05875E8A-2986-51D9-A148-8AD04286D0B1}"/>
                  </a:ext>
                </a:extLst>
              </p:cNvPr>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7" name="Group 7">
              <a:extLst>
                <a:ext uri="{FF2B5EF4-FFF2-40B4-BE49-F238E27FC236}">
                  <a16:creationId xmlns:a16="http://schemas.microsoft.com/office/drawing/2014/main" id="{DC522CDA-6802-E5FC-9A5F-D6A21F06C1BE}"/>
                </a:ext>
              </a:extLst>
            </p:cNvPr>
            <p:cNvGrpSpPr/>
            <p:nvPr/>
          </p:nvGrpSpPr>
          <p:grpSpPr>
            <a:xfrm>
              <a:off x="0" y="105314"/>
              <a:ext cx="442646" cy="63500"/>
              <a:chOff x="0" y="0"/>
              <a:chExt cx="87436" cy="12543"/>
            </a:xfrm>
          </p:grpSpPr>
          <p:sp>
            <p:nvSpPr>
              <p:cNvPr id="8" name="Freeform 8">
                <a:extLst>
                  <a:ext uri="{FF2B5EF4-FFF2-40B4-BE49-F238E27FC236}">
                    <a16:creationId xmlns:a16="http://schemas.microsoft.com/office/drawing/2014/main" id="{B89D3ACA-D38B-1473-A8AE-A342FAFCF3C9}"/>
                  </a:ext>
                </a:extLst>
              </p:cNvPr>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9" name="TextBox 9">
                <a:extLst>
                  <a:ext uri="{FF2B5EF4-FFF2-40B4-BE49-F238E27FC236}">
                    <a16:creationId xmlns:a16="http://schemas.microsoft.com/office/drawing/2014/main" id="{510D8A68-D9A0-02B2-76BE-FD430EC1EB3C}"/>
                  </a:ext>
                </a:extLst>
              </p:cNvPr>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10" name="Group 10">
              <a:extLst>
                <a:ext uri="{FF2B5EF4-FFF2-40B4-BE49-F238E27FC236}">
                  <a16:creationId xmlns:a16="http://schemas.microsoft.com/office/drawing/2014/main" id="{32B85CA2-7B05-E191-16B7-B5578D8CD194}"/>
                </a:ext>
              </a:extLst>
            </p:cNvPr>
            <p:cNvGrpSpPr/>
            <p:nvPr/>
          </p:nvGrpSpPr>
          <p:grpSpPr>
            <a:xfrm>
              <a:off x="0" y="206914"/>
              <a:ext cx="442646" cy="63500"/>
              <a:chOff x="0" y="0"/>
              <a:chExt cx="87436" cy="12543"/>
            </a:xfrm>
          </p:grpSpPr>
          <p:sp>
            <p:nvSpPr>
              <p:cNvPr id="11" name="Freeform 11">
                <a:extLst>
                  <a:ext uri="{FF2B5EF4-FFF2-40B4-BE49-F238E27FC236}">
                    <a16:creationId xmlns:a16="http://schemas.microsoft.com/office/drawing/2014/main" id="{838236ED-B34B-775E-DD0B-F4049648CE38}"/>
                  </a:ext>
                </a:extLst>
              </p:cNvPr>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12" name="TextBox 12">
                <a:extLst>
                  <a:ext uri="{FF2B5EF4-FFF2-40B4-BE49-F238E27FC236}">
                    <a16:creationId xmlns:a16="http://schemas.microsoft.com/office/drawing/2014/main" id="{749F56D6-061B-2F1B-F70A-2FD66DFA7D3A}"/>
                  </a:ext>
                </a:extLst>
              </p:cNvPr>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sp>
        <p:nvSpPr>
          <p:cNvPr id="13" name="Freeform 13">
            <a:extLst>
              <a:ext uri="{FF2B5EF4-FFF2-40B4-BE49-F238E27FC236}">
                <a16:creationId xmlns:a16="http://schemas.microsoft.com/office/drawing/2014/main" id="{1F3BD7EE-4F50-CD05-5E2A-7AED8A8B21BA}"/>
              </a:ext>
            </a:extLst>
          </p:cNvPr>
          <p:cNvSpPr/>
          <p:nvPr/>
        </p:nvSpPr>
        <p:spPr>
          <a:xfrm>
            <a:off x="16927006" y="746082"/>
            <a:ext cx="332294" cy="302554"/>
          </a:xfrm>
          <a:custGeom>
            <a:avLst/>
            <a:gdLst/>
            <a:ahLst/>
            <a:cxnLst/>
            <a:rect l="l" t="t" r="r" b="b"/>
            <a:pathLst>
              <a:path w="332294" h="302554">
                <a:moveTo>
                  <a:pt x="0" y="0"/>
                </a:moveTo>
                <a:lnTo>
                  <a:pt x="332294" y="0"/>
                </a:lnTo>
                <a:lnTo>
                  <a:pt x="332294" y="302554"/>
                </a:lnTo>
                <a:lnTo>
                  <a:pt x="0" y="302554"/>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4" name="Group 14">
            <a:extLst>
              <a:ext uri="{FF2B5EF4-FFF2-40B4-BE49-F238E27FC236}">
                <a16:creationId xmlns:a16="http://schemas.microsoft.com/office/drawing/2014/main" id="{3BEAD14A-232E-52B9-4865-8459079AB744}"/>
              </a:ext>
            </a:extLst>
          </p:cNvPr>
          <p:cNvGrpSpPr/>
          <p:nvPr/>
        </p:nvGrpSpPr>
        <p:grpSpPr>
          <a:xfrm>
            <a:off x="1920002" y="3486150"/>
            <a:ext cx="1118380" cy="1301387"/>
            <a:chOff x="0" y="0"/>
            <a:chExt cx="698500" cy="812800"/>
          </a:xfrm>
        </p:grpSpPr>
        <p:sp>
          <p:nvSpPr>
            <p:cNvPr id="15" name="Freeform 15">
              <a:extLst>
                <a:ext uri="{FF2B5EF4-FFF2-40B4-BE49-F238E27FC236}">
                  <a16:creationId xmlns:a16="http://schemas.microsoft.com/office/drawing/2014/main" id="{ADF08066-B85B-2660-7737-7E4462B790CF}"/>
                </a:ext>
              </a:extLst>
            </p:cNvPr>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71121">
                    <a:alpha val="100000"/>
                  </a:srgbClr>
                </a:gs>
                <a:gs pos="50000">
                  <a:srgbClr val="4F5661">
                    <a:alpha val="78500"/>
                  </a:srgbClr>
                </a:gs>
                <a:gs pos="100000">
                  <a:srgbClr val="060F1F">
                    <a:alpha val="0"/>
                  </a:srgbClr>
                </a:gs>
              </a:gsLst>
              <a:lin ang="5400000"/>
            </a:gradFill>
          </p:spPr>
        </p:sp>
        <p:sp>
          <p:nvSpPr>
            <p:cNvPr id="16" name="TextBox 16">
              <a:extLst>
                <a:ext uri="{FF2B5EF4-FFF2-40B4-BE49-F238E27FC236}">
                  <a16:creationId xmlns:a16="http://schemas.microsoft.com/office/drawing/2014/main" id="{C3F86142-2681-5DA6-7013-39F3F593B1F5}"/>
                </a:ext>
              </a:extLst>
            </p:cNvPr>
            <p:cNvSpPr txBox="1"/>
            <p:nvPr/>
          </p:nvSpPr>
          <p:spPr>
            <a:xfrm>
              <a:off x="0" y="139700"/>
              <a:ext cx="698500" cy="533400"/>
            </a:xfrm>
            <a:prstGeom prst="rect">
              <a:avLst/>
            </a:prstGeom>
          </p:spPr>
          <p:txBody>
            <a:bodyPr lIns="50800" tIns="50800" rIns="50800" bIns="50800" rtlCol="0" anchor="ctr"/>
            <a:lstStyle/>
            <a:p>
              <a:pPr algn="ctr">
                <a:lnSpc>
                  <a:spcPts val="1917"/>
                </a:lnSpc>
              </a:pPr>
              <a:endParaRPr/>
            </a:p>
          </p:txBody>
        </p:sp>
      </p:grpSp>
      <p:grpSp>
        <p:nvGrpSpPr>
          <p:cNvPr id="17" name="Group 17">
            <a:extLst>
              <a:ext uri="{FF2B5EF4-FFF2-40B4-BE49-F238E27FC236}">
                <a16:creationId xmlns:a16="http://schemas.microsoft.com/office/drawing/2014/main" id="{A34CBD62-AADC-209D-6DAF-63A8C635CD86}"/>
              </a:ext>
            </a:extLst>
          </p:cNvPr>
          <p:cNvGrpSpPr/>
          <p:nvPr/>
        </p:nvGrpSpPr>
        <p:grpSpPr>
          <a:xfrm>
            <a:off x="6983775" y="3486150"/>
            <a:ext cx="1118380" cy="1301387"/>
            <a:chOff x="0" y="0"/>
            <a:chExt cx="698500" cy="812800"/>
          </a:xfrm>
        </p:grpSpPr>
        <p:sp>
          <p:nvSpPr>
            <p:cNvPr id="18" name="Freeform 18">
              <a:extLst>
                <a:ext uri="{FF2B5EF4-FFF2-40B4-BE49-F238E27FC236}">
                  <a16:creationId xmlns:a16="http://schemas.microsoft.com/office/drawing/2014/main" id="{AD8EEC0D-3D11-81FF-0AE3-67DDFE96FBD2}"/>
                </a:ext>
              </a:extLst>
            </p:cNvPr>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71121">
                    <a:alpha val="100000"/>
                  </a:srgbClr>
                </a:gs>
                <a:gs pos="50000">
                  <a:srgbClr val="4F5661">
                    <a:alpha val="78500"/>
                  </a:srgbClr>
                </a:gs>
                <a:gs pos="100000">
                  <a:srgbClr val="060F1F">
                    <a:alpha val="0"/>
                  </a:srgbClr>
                </a:gs>
              </a:gsLst>
              <a:lin ang="5400000"/>
            </a:gradFill>
          </p:spPr>
        </p:sp>
        <p:sp>
          <p:nvSpPr>
            <p:cNvPr id="19" name="TextBox 19">
              <a:extLst>
                <a:ext uri="{FF2B5EF4-FFF2-40B4-BE49-F238E27FC236}">
                  <a16:creationId xmlns:a16="http://schemas.microsoft.com/office/drawing/2014/main" id="{F9468646-1009-050F-8B07-0021F8FE1783}"/>
                </a:ext>
              </a:extLst>
            </p:cNvPr>
            <p:cNvSpPr txBox="1"/>
            <p:nvPr/>
          </p:nvSpPr>
          <p:spPr>
            <a:xfrm>
              <a:off x="0" y="139700"/>
              <a:ext cx="698500" cy="533400"/>
            </a:xfrm>
            <a:prstGeom prst="rect">
              <a:avLst/>
            </a:prstGeom>
          </p:spPr>
          <p:txBody>
            <a:bodyPr lIns="50800" tIns="50800" rIns="50800" bIns="50800" rtlCol="0" anchor="ctr"/>
            <a:lstStyle/>
            <a:p>
              <a:pPr algn="ctr">
                <a:lnSpc>
                  <a:spcPts val="1917"/>
                </a:lnSpc>
              </a:pPr>
              <a:endParaRPr/>
            </a:p>
          </p:txBody>
        </p:sp>
      </p:grpSp>
      <p:grpSp>
        <p:nvGrpSpPr>
          <p:cNvPr id="20" name="Group 20">
            <a:extLst>
              <a:ext uri="{FF2B5EF4-FFF2-40B4-BE49-F238E27FC236}">
                <a16:creationId xmlns:a16="http://schemas.microsoft.com/office/drawing/2014/main" id="{D07F1DA8-85CA-53C6-4DDB-D3951960115F}"/>
              </a:ext>
            </a:extLst>
          </p:cNvPr>
          <p:cNvGrpSpPr/>
          <p:nvPr/>
        </p:nvGrpSpPr>
        <p:grpSpPr>
          <a:xfrm>
            <a:off x="12047548" y="3486150"/>
            <a:ext cx="1118380" cy="1301387"/>
            <a:chOff x="0" y="0"/>
            <a:chExt cx="698500" cy="812800"/>
          </a:xfrm>
        </p:grpSpPr>
        <p:sp>
          <p:nvSpPr>
            <p:cNvPr id="21" name="Freeform 21">
              <a:extLst>
                <a:ext uri="{FF2B5EF4-FFF2-40B4-BE49-F238E27FC236}">
                  <a16:creationId xmlns:a16="http://schemas.microsoft.com/office/drawing/2014/main" id="{2D3980C3-3E5E-552A-E477-4E26A8963E4F}"/>
                </a:ext>
              </a:extLst>
            </p:cNvPr>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71121">
                    <a:alpha val="100000"/>
                  </a:srgbClr>
                </a:gs>
                <a:gs pos="50000">
                  <a:srgbClr val="4F5661">
                    <a:alpha val="78500"/>
                  </a:srgbClr>
                </a:gs>
                <a:gs pos="100000">
                  <a:srgbClr val="060F1F">
                    <a:alpha val="0"/>
                  </a:srgbClr>
                </a:gs>
              </a:gsLst>
              <a:lin ang="5400000"/>
            </a:gradFill>
          </p:spPr>
        </p:sp>
        <p:sp>
          <p:nvSpPr>
            <p:cNvPr id="22" name="TextBox 22">
              <a:extLst>
                <a:ext uri="{FF2B5EF4-FFF2-40B4-BE49-F238E27FC236}">
                  <a16:creationId xmlns:a16="http://schemas.microsoft.com/office/drawing/2014/main" id="{C3781C7A-260B-69C8-46D1-2D12B36C8882}"/>
                </a:ext>
              </a:extLst>
            </p:cNvPr>
            <p:cNvSpPr txBox="1"/>
            <p:nvPr/>
          </p:nvSpPr>
          <p:spPr>
            <a:xfrm>
              <a:off x="0" y="139700"/>
              <a:ext cx="698500" cy="533400"/>
            </a:xfrm>
            <a:prstGeom prst="rect">
              <a:avLst/>
            </a:prstGeom>
          </p:spPr>
          <p:txBody>
            <a:bodyPr lIns="50800" tIns="50800" rIns="50800" bIns="50800" rtlCol="0" anchor="ctr"/>
            <a:lstStyle/>
            <a:p>
              <a:pPr algn="ctr">
                <a:lnSpc>
                  <a:spcPts val="1917"/>
                </a:lnSpc>
              </a:pPr>
              <a:endParaRPr/>
            </a:p>
          </p:txBody>
        </p:sp>
      </p:grpSp>
      <p:sp>
        <p:nvSpPr>
          <p:cNvPr id="24" name="TextBox 24">
            <a:extLst>
              <a:ext uri="{FF2B5EF4-FFF2-40B4-BE49-F238E27FC236}">
                <a16:creationId xmlns:a16="http://schemas.microsoft.com/office/drawing/2014/main" id="{79970636-F620-2D34-5C8B-B8F9F5EBDC67}"/>
              </a:ext>
            </a:extLst>
          </p:cNvPr>
          <p:cNvSpPr txBox="1"/>
          <p:nvPr/>
        </p:nvSpPr>
        <p:spPr>
          <a:xfrm>
            <a:off x="1391939" y="859732"/>
            <a:ext cx="528063" cy="139032"/>
          </a:xfrm>
          <a:prstGeom prst="rect">
            <a:avLst/>
          </a:prstGeom>
        </p:spPr>
        <p:txBody>
          <a:bodyPr lIns="0" tIns="0" rIns="0" bIns="0" rtlCol="0" anchor="t">
            <a:spAutoFit/>
          </a:bodyPr>
          <a:lstStyle/>
          <a:p>
            <a:pPr algn="l">
              <a:lnSpc>
                <a:spcPts val="1077"/>
              </a:lnSpc>
              <a:spcBef>
                <a:spcPct val="0"/>
              </a:spcBef>
            </a:pPr>
            <a:r>
              <a:rPr lang="en-US" sz="997">
                <a:solidFill>
                  <a:srgbClr val="FFFFFF"/>
                </a:solidFill>
                <a:latin typeface="Poppins Light"/>
                <a:ea typeface="Poppins Light"/>
                <a:cs typeface="Poppins Light"/>
                <a:sym typeface="Poppins Light"/>
              </a:rPr>
              <a:t>PAGE 4</a:t>
            </a:r>
          </a:p>
        </p:txBody>
      </p:sp>
      <p:sp>
        <p:nvSpPr>
          <p:cNvPr id="25" name="TextBox 25">
            <a:extLst>
              <a:ext uri="{FF2B5EF4-FFF2-40B4-BE49-F238E27FC236}">
                <a16:creationId xmlns:a16="http://schemas.microsoft.com/office/drawing/2014/main" id="{EDF077C6-EAA6-A60B-F70C-4615CC10C8DB}"/>
              </a:ext>
            </a:extLst>
          </p:cNvPr>
          <p:cNvSpPr txBox="1"/>
          <p:nvPr/>
        </p:nvSpPr>
        <p:spPr>
          <a:xfrm>
            <a:off x="3645626" y="916882"/>
            <a:ext cx="11275121" cy="879863"/>
          </a:xfrm>
          <a:prstGeom prst="rect">
            <a:avLst/>
          </a:prstGeom>
        </p:spPr>
        <p:txBody>
          <a:bodyPr lIns="0" tIns="0" rIns="0" bIns="0" rtlCol="0" anchor="t">
            <a:spAutoFit/>
          </a:bodyPr>
          <a:lstStyle/>
          <a:p>
            <a:pPr algn="ctr">
              <a:lnSpc>
                <a:spcPts val="6753"/>
              </a:lnSpc>
              <a:spcBef>
                <a:spcPct val="0"/>
              </a:spcBef>
            </a:pPr>
            <a:r>
              <a:rPr lang="en-US" sz="6252" spc="787">
                <a:solidFill>
                  <a:srgbClr val="FFFFFF"/>
                </a:solidFill>
                <a:latin typeface="HK Modular"/>
                <a:ea typeface="HK Modular"/>
                <a:cs typeface="HK Modular"/>
                <a:sym typeface="HK Modular"/>
              </a:rPr>
              <a:t>FlowChart</a:t>
            </a:r>
          </a:p>
        </p:txBody>
      </p:sp>
      <p:pic>
        <p:nvPicPr>
          <p:cNvPr id="23" name="Picture 22">
            <a:extLst>
              <a:ext uri="{FF2B5EF4-FFF2-40B4-BE49-F238E27FC236}">
                <a16:creationId xmlns:a16="http://schemas.microsoft.com/office/drawing/2014/main" id="{7B20231E-7D4C-BAF2-16BC-55EE18CBBD36}"/>
              </a:ext>
            </a:extLst>
          </p:cNvPr>
          <p:cNvPicPr>
            <a:picLocks noChangeAspect="1"/>
          </p:cNvPicPr>
          <p:nvPr/>
        </p:nvPicPr>
        <p:blipFill rotWithShape="1">
          <a:blip r:embed="rId4">
            <a:extLst>
              <a:ext uri="{28A0092B-C50C-407E-A947-70E740481C1C}">
                <a14:useLocalDpi xmlns:a14="http://schemas.microsoft.com/office/drawing/2010/main" val="0"/>
              </a:ext>
            </a:extLst>
          </a:blip>
          <a:srcRect b="57098"/>
          <a:stretch>
            <a:fillRect/>
          </a:stretch>
        </p:blipFill>
        <p:spPr bwMode="auto">
          <a:xfrm>
            <a:off x="1097759" y="2359082"/>
            <a:ext cx="7994519" cy="5140933"/>
          </a:xfrm>
          <a:prstGeom prst="rect">
            <a:avLst/>
          </a:prstGeom>
          <a:noFill/>
          <a:ln>
            <a:noFill/>
          </a:ln>
          <a:extLst>
            <a:ext uri="{53640926-AAD7-44D8-BBD7-CCE9431645EC}">
              <a14:shadowObscured xmlns:a14="http://schemas.microsoft.com/office/drawing/2010/main"/>
            </a:ext>
          </a:extLst>
        </p:spPr>
      </p:pic>
      <p:pic>
        <p:nvPicPr>
          <p:cNvPr id="28" name="Picture 27">
            <a:extLst>
              <a:ext uri="{FF2B5EF4-FFF2-40B4-BE49-F238E27FC236}">
                <a16:creationId xmlns:a16="http://schemas.microsoft.com/office/drawing/2014/main" id="{1F3C8739-8E7A-23C5-11B7-8B7377E46CC9}"/>
              </a:ext>
            </a:extLst>
          </p:cNvPr>
          <p:cNvPicPr>
            <a:picLocks noChangeAspect="1"/>
          </p:cNvPicPr>
          <p:nvPr/>
        </p:nvPicPr>
        <p:blipFill rotWithShape="1">
          <a:blip r:embed="rId4">
            <a:extLst>
              <a:ext uri="{28A0092B-C50C-407E-A947-70E740481C1C}">
                <a14:useLocalDpi xmlns:a14="http://schemas.microsoft.com/office/drawing/2010/main" val="0"/>
              </a:ext>
            </a:extLst>
          </a:blip>
          <a:srcRect t="47405" b="17686"/>
          <a:stretch>
            <a:fillRect/>
          </a:stretch>
        </p:blipFill>
        <p:spPr bwMode="auto">
          <a:xfrm>
            <a:off x="9373756" y="3341991"/>
            <a:ext cx="7796432" cy="407981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84429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1A626-BFE2-8F05-33F8-00DC624CC00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EDFF100-387C-2C9A-E794-B0C5310F2079}"/>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5555" b="-5555"/>
            </a:stretch>
          </a:blipFill>
        </p:spPr>
        <p:txBody>
          <a:bodyPr/>
          <a:lstStyle/>
          <a:p>
            <a:endParaRPr lang="en-IN" dirty="0"/>
          </a:p>
        </p:txBody>
      </p:sp>
      <p:grpSp>
        <p:nvGrpSpPr>
          <p:cNvPr id="3" name="Group 3">
            <a:extLst>
              <a:ext uri="{FF2B5EF4-FFF2-40B4-BE49-F238E27FC236}">
                <a16:creationId xmlns:a16="http://schemas.microsoft.com/office/drawing/2014/main" id="{689E3678-3DC6-39ED-C678-07C7C6BEE3F1}"/>
              </a:ext>
            </a:extLst>
          </p:cNvPr>
          <p:cNvGrpSpPr/>
          <p:nvPr/>
        </p:nvGrpSpPr>
        <p:grpSpPr>
          <a:xfrm>
            <a:off x="862708" y="795954"/>
            <a:ext cx="331984" cy="202810"/>
            <a:chOff x="0" y="0"/>
            <a:chExt cx="442646" cy="270414"/>
          </a:xfrm>
        </p:grpSpPr>
        <p:grpSp>
          <p:nvGrpSpPr>
            <p:cNvPr id="4" name="Group 4">
              <a:extLst>
                <a:ext uri="{FF2B5EF4-FFF2-40B4-BE49-F238E27FC236}">
                  <a16:creationId xmlns:a16="http://schemas.microsoft.com/office/drawing/2014/main" id="{EAD5DD0A-713A-84DB-CC3B-2BAD5599BD0A}"/>
                </a:ext>
              </a:extLst>
            </p:cNvPr>
            <p:cNvGrpSpPr/>
            <p:nvPr/>
          </p:nvGrpSpPr>
          <p:grpSpPr>
            <a:xfrm>
              <a:off x="0" y="0"/>
              <a:ext cx="442646" cy="63500"/>
              <a:chOff x="0" y="0"/>
              <a:chExt cx="87436" cy="12543"/>
            </a:xfrm>
          </p:grpSpPr>
          <p:sp>
            <p:nvSpPr>
              <p:cNvPr id="5" name="Freeform 5">
                <a:extLst>
                  <a:ext uri="{FF2B5EF4-FFF2-40B4-BE49-F238E27FC236}">
                    <a16:creationId xmlns:a16="http://schemas.microsoft.com/office/drawing/2014/main" id="{8AE6F846-CCA6-1404-898D-F830FAC2CA95}"/>
                  </a:ext>
                </a:extLst>
              </p:cNvPr>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6" name="TextBox 6">
                <a:extLst>
                  <a:ext uri="{FF2B5EF4-FFF2-40B4-BE49-F238E27FC236}">
                    <a16:creationId xmlns:a16="http://schemas.microsoft.com/office/drawing/2014/main" id="{31862744-68B5-6998-8B2B-F7C5F528697F}"/>
                  </a:ext>
                </a:extLst>
              </p:cNvPr>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7" name="Group 7">
              <a:extLst>
                <a:ext uri="{FF2B5EF4-FFF2-40B4-BE49-F238E27FC236}">
                  <a16:creationId xmlns:a16="http://schemas.microsoft.com/office/drawing/2014/main" id="{AA709E03-8D01-E80B-71CC-1ADE28BE3E8E}"/>
                </a:ext>
              </a:extLst>
            </p:cNvPr>
            <p:cNvGrpSpPr/>
            <p:nvPr/>
          </p:nvGrpSpPr>
          <p:grpSpPr>
            <a:xfrm>
              <a:off x="0" y="105314"/>
              <a:ext cx="442646" cy="63500"/>
              <a:chOff x="0" y="0"/>
              <a:chExt cx="87436" cy="12543"/>
            </a:xfrm>
          </p:grpSpPr>
          <p:sp>
            <p:nvSpPr>
              <p:cNvPr id="8" name="Freeform 8">
                <a:extLst>
                  <a:ext uri="{FF2B5EF4-FFF2-40B4-BE49-F238E27FC236}">
                    <a16:creationId xmlns:a16="http://schemas.microsoft.com/office/drawing/2014/main" id="{7BF4222E-15F9-3E4C-2931-AEE1066FC35C}"/>
                  </a:ext>
                </a:extLst>
              </p:cNvPr>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9" name="TextBox 9">
                <a:extLst>
                  <a:ext uri="{FF2B5EF4-FFF2-40B4-BE49-F238E27FC236}">
                    <a16:creationId xmlns:a16="http://schemas.microsoft.com/office/drawing/2014/main" id="{A1026D9C-E77C-4728-F21E-C11200BC00E4}"/>
                  </a:ext>
                </a:extLst>
              </p:cNvPr>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10" name="Group 10">
              <a:extLst>
                <a:ext uri="{FF2B5EF4-FFF2-40B4-BE49-F238E27FC236}">
                  <a16:creationId xmlns:a16="http://schemas.microsoft.com/office/drawing/2014/main" id="{71C79646-ABB1-1241-BD95-1CA0104713E5}"/>
                </a:ext>
              </a:extLst>
            </p:cNvPr>
            <p:cNvGrpSpPr/>
            <p:nvPr/>
          </p:nvGrpSpPr>
          <p:grpSpPr>
            <a:xfrm>
              <a:off x="0" y="206914"/>
              <a:ext cx="442646" cy="63500"/>
              <a:chOff x="0" y="0"/>
              <a:chExt cx="87436" cy="12543"/>
            </a:xfrm>
          </p:grpSpPr>
          <p:sp>
            <p:nvSpPr>
              <p:cNvPr id="11" name="Freeform 11">
                <a:extLst>
                  <a:ext uri="{FF2B5EF4-FFF2-40B4-BE49-F238E27FC236}">
                    <a16:creationId xmlns:a16="http://schemas.microsoft.com/office/drawing/2014/main" id="{DD596C9A-909B-2562-B784-079DF0FCB2D3}"/>
                  </a:ext>
                </a:extLst>
              </p:cNvPr>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12" name="TextBox 12">
                <a:extLst>
                  <a:ext uri="{FF2B5EF4-FFF2-40B4-BE49-F238E27FC236}">
                    <a16:creationId xmlns:a16="http://schemas.microsoft.com/office/drawing/2014/main" id="{EFE6AAB7-BB29-9642-570B-FD318DEC52B4}"/>
                  </a:ext>
                </a:extLst>
              </p:cNvPr>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sp>
        <p:nvSpPr>
          <p:cNvPr id="13" name="Freeform 13">
            <a:extLst>
              <a:ext uri="{FF2B5EF4-FFF2-40B4-BE49-F238E27FC236}">
                <a16:creationId xmlns:a16="http://schemas.microsoft.com/office/drawing/2014/main" id="{814924D4-8313-D098-4C70-286FCFA2EBCD}"/>
              </a:ext>
            </a:extLst>
          </p:cNvPr>
          <p:cNvSpPr/>
          <p:nvPr/>
        </p:nvSpPr>
        <p:spPr>
          <a:xfrm>
            <a:off x="16927006" y="746082"/>
            <a:ext cx="332294" cy="302554"/>
          </a:xfrm>
          <a:custGeom>
            <a:avLst/>
            <a:gdLst/>
            <a:ahLst/>
            <a:cxnLst/>
            <a:rect l="l" t="t" r="r" b="b"/>
            <a:pathLst>
              <a:path w="332294" h="302554">
                <a:moveTo>
                  <a:pt x="0" y="0"/>
                </a:moveTo>
                <a:lnTo>
                  <a:pt x="332294" y="0"/>
                </a:lnTo>
                <a:lnTo>
                  <a:pt x="332294" y="302554"/>
                </a:lnTo>
                <a:lnTo>
                  <a:pt x="0" y="302554"/>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4" name="Group 14">
            <a:extLst>
              <a:ext uri="{FF2B5EF4-FFF2-40B4-BE49-F238E27FC236}">
                <a16:creationId xmlns:a16="http://schemas.microsoft.com/office/drawing/2014/main" id="{6546A1CE-05DE-D5F5-A52D-5F6DEC143516}"/>
              </a:ext>
            </a:extLst>
          </p:cNvPr>
          <p:cNvGrpSpPr/>
          <p:nvPr/>
        </p:nvGrpSpPr>
        <p:grpSpPr>
          <a:xfrm>
            <a:off x="1920002" y="3486150"/>
            <a:ext cx="1118380" cy="1301387"/>
            <a:chOff x="0" y="0"/>
            <a:chExt cx="698500" cy="812800"/>
          </a:xfrm>
        </p:grpSpPr>
        <p:sp>
          <p:nvSpPr>
            <p:cNvPr id="15" name="Freeform 15">
              <a:extLst>
                <a:ext uri="{FF2B5EF4-FFF2-40B4-BE49-F238E27FC236}">
                  <a16:creationId xmlns:a16="http://schemas.microsoft.com/office/drawing/2014/main" id="{75EFAB05-BAAF-E1BD-7C39-CF274DA44571}"/>
                </a:ext>
              </a:extLst>
            </p:cNvPr>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71121">
                    <a:alpha val="100000"/>
                  </a:srgbClr>
                </a:gs>
                <a:gs pos="50000">
                  <a:srgbClr val="4F5661">
                    <a:alpha val="78500"/>
                  </a:srgbClr>
                </a:gs>
                <a:gs pos="100000">
                  <a:srgbClr val="060F1F">
                    <a:alpha val="0"/>
                  </a:srgbClr>
                </a:gs>
              </a:gsLst>
              <a:lin ang="5400000"/>
            </a:gradFill>
          </p:spPr>
        </p:sp>
        <p:sp>
          <p:nvSpPr>
            <p:cNvPr id="16" name="TextBox 16">
              <a:extLst>
                <a:ext uri="{FF2B5EF4-FFF2-40B4-BE49-F238E27FC236}">
                  <a16:creationId xmlns:a16="http://schemas.microsoft.com/office/drawing/2014/main" id="{A16CC532-C581-B988-2356-B9745304322E}"/>
                </a:ext>
              </a:extLst>
            </p:cNvPr>
            <p:cNvSpPr txBox="1"/>
            <p:nvPr/>
          </p:nvSpPr>
          <p:spPr>
            <a:xfrm>
              <a:off x="0" y="139700"/>
              <a:ext cx="698500" cy="533400"/>
            </a:xfrm>
            <a:prstGeom prst="rect">
              <a:avLst/>
            </a:prstGeom>
          </p:spPr>
          <p:txBody>
            <a:bodyPr lIns="50800" tIns="50800" rIns="50800" bIns="50800" rtlCol="0" anchor="ctr"/>
            <a:lstStyle/>
            <a:p>
              <a:pPr algn="ctr">
                <a:lnSpc>
                  <a:spcPts val="1917"/>
                </a:lnSpc>
              </a:pPr>
              <a:endParaRPr/>
            </a:p>
          </p:txBody>
        </p:sp>
      </p:grpSp>
      <p:grpSp>
        <p:nvGrpSpPr>
          <p:cNvPr id="17" name="Group 17">
            <a:extLst>
              <a:ext uri="{FF2B5EF4-FFF2-40B4-BE49-F238E27FC236}">
                <a16:creationId xmlns:a16="http://schemas.microsoft.com/office/drawing/2014/main" id="{D4C1C760-6901-78A3-54CB-CE5761CE69CA}"/>
              </a:ext>
            </a:extLst>
          </p:cNvPr>
          <p:cNvGrpSpPr/>
          <p:nvPr/>
        </p:nvGrpSpPr>
        <p:grpSpPr>
          <a:xfrm>
            <a:off x="6983775" y="3486150"/>
            <a:ext cx="1118380" cy="1301387"/>
            <a:chOff x="0" y="0"/>
            <a:chExt cx="698500" cy="812800"/>
          </a:xfrm>
        </p:grpSpPr>
        <p:sp>
          <p:nvSpPr>
            <p:cNvPr id="18" name="Freeform 18">
              <a:extLst>
                <a:ext uri="{FF2B5EF4-FFF2-40B4-BE49-F238E27FC236}">
                  <a16:creationId xmlns:a16="http://schemas.microsoft.com/office/drawing/2014/main" id="{A4FAD865-A68F-BD54-87D9-57D40D0715FB}"/>
                </a:ext>
              </a:extLst>
            </p:cNvPr>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71121">
                    <a:alpha val="100000"/>
                  </a:srgbClr>
                </a:gs>
                <a:gs pos="50000">
                  <a:srgbClr val="4F5661">
                    <a:alpha val="78500"/>
                  </a:srgbClr>
                </a:gs>
                <a:gs pos="100000">
                  <a:srgbClr val="060F1F">
                    <a:alpha val="0"/>
                  </a:srgbClr>
                </a:gs>
              </a:gsLst>
              <a:lin ang="5400000"/>
            </a:gradFill>
          </p:spPr>
        </p:sp>
        <p:sp>
          <p:nvSpPr>
            <p:cNvPr id="19" name="TextBox 19">
              <a:extLst>
                <a:ext uri="{FF2B5EF4-FFF2-40B4-BE49-F238E27FC236}">
                  <a16:creationId xmlns:a16="http://schemas.microsoft.com/office/drawing/2014/main" id="{2CC92F46-69F7-CEAC-933A-C37173C69D66}"/>
                </a:ext>
              </a:extLst>
            </p:cNvPr>
            <p:cNvSpPr txBox="1"/>
            <p:nvPr/>
          </p:nvSpPr>
          <p:spPr>
            <a:xfrm>
              <a:off x="0" y="139700"/>
              <a:ext cx="698500" cy="533400"/>
            </a:xfrm>
            <a:prstGeom prst="rect">
              <a:avLst/>
            </a:prstGeom>
          </p:spPr>
          <p:txBody>
            <a:bodyPr lIns="50800" tIns="50800" rIns="50800" bIns="50800" rtlCol="0" anchor="ctr"/>
            <a:lstStyle/>
            <a:p>
              <a:pPr algn="ctr">
                <a:lnSpc>
                  <a:spcPts val="1917"/>
                </a:lnSpc>
              </a:pPr>
              <a:endParaRPr/>
            </a:p>
          </p:txBody>
        </p:sp>
      </p:grpSp>
      <p:grpSp>
        <p:nvGrpSpPr>
          <p:cNvPr id="20" name="Group 20">
            <a:extLst>
              <a:ext uri="{FF2B5EF4-FFF2-40B4-BE49-F238E27FC236}">
                <a16:creationId xmlns:a16="http://schemas.microsoft.com/office/drawing/2014/main" id="{0D8228B9-B10C-2429-979A-9BB5CBBA0125}"/>
              </a:ext>
            </a:extLst>
          </p:cNvPr>
          <p:cNvGrpSpPr/>
          <p:nvPr/>
        </p:nvGrpSpPr>
        <p:grpSpPr>
          <a:xfrm>
            <a:off x="12047548" y="3486150"/>
            <a:ext cx="1118380" cy="1301387"/>
            <a:chOff x="0" y="0"/>
            <a:chExt cx="698500" cy="812800"/>
          </a:xfrm>
        </p:grpSpPr>
        <p:sp>
          <p:nvSpPr>
            <p:cNvPr id="21" name="Freeform 21">
              <a:extLst>
                <a:ext uri="{FF2B5EF4-FFF2-40B4-BE49-F238E27FC236}">
                  <a16:creationId xmlns:a16="http://schemas.microsoft.com/office/drawing/2014/main" id="{F13539DE-DD98-63B5-CC39-768117FF6703}"/>
                </a:ext>
              </a:extLst>
            </p:cNvPr>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gradFill rotWithShape="1">
              <a:gsLst>
                <a:gs pos="0">
                  <a:srgbClr val="071121">
                    <a:alpha val="100000"/>
                  </a:srgbClr>
                </a:gs>
                <a:gs pos="50000">
                  <a:srgbClr val="4F5661">
                    <a:alpha val="78500"/>
                  </a:srgbClr>
                </a:gs>
                <a:gs pos="100000">
                  <a:srgbClr val="060F1F">
                    <a:alpha val="0"/>
                  </a:srgbClr>
                </a:gs>
              </a:gsLst>
              <a:lin ang="5400000"/>
            </a:gradFill>
          </p:spPr>
        </p:sp>
        <p:sp>
          <p:nvSpPr>
            <p:cNvPr id="22" name="TextBox 22">
              <a:extLst>
                <a:ext uri="{FF2B5EF4-FFF2-40B4-BE49-F238E27FC236}">
                  <a16:creationId xmlns:a16="http://schemas.microsoft.com/office/drawing/2014/main" id="{2C9FC25E-B96E-A083-DD0E-90E63F4DC87A}"/>
                </a:ext>
              </a:extLst>
            </p:cNvPr>
            <p:cNvSpPr txBox="1"/>
            <p:nvPr/>
          </p:nvSpPr>
          <p:spPr>
            <a:xfrm>
              <a:off x="0" y="139700"/>
              <a:ext cx="698500" cy="533400"/>
            </a:xfrm>
            <a:prstGeom prst="rect">
              <a:avLst/>
            </a:prstGeom>
          </p:spPr>
          <p:txBody>
            <a:bodyPr lIns="50800" tIns="50800" rIns="50800" bIns="50800" rtlCol="0" anchor="ctr"/>
            <a:lstStyle/>
            <a:p>
              <a:pPr algn="ctr">
                <a:lnSpc>
                  <a:spcPts val="1917"/>
                </a:lnSpc>
              </a:pPr>
              <a:endParaRPr/>
            </a:p>
          </p:txBody>
        </p:sp>
      </p:grpSp>
      <p:sp>
        <p:nvSpPr>
          <p:cNvPr id="24" name="TextBox 24">
            <a:extLst>
              <a:ext uri="{FF2B5EF4-FFF2-40B4-BE49-F238E27FC236}">
                <a16:creationId xmlns:a16="http://schemas.microsoft.com/office/drawing/2014/main" id="{4896FC74-DE22-BC61-81CC-CD421459682F}"/>
              </a:ext>
            </a:extLst>
          </p:cNvPr>
          <p:cNvSpPr txBox="1"/>
          <p:nvPr/>
        </p:nvSpPr>
        <p:spPr>
          <a:xfrm>
            <a:off x="1391939" y="859732"/>
            <a:ext cx="528063" cy="139032"/>
          </a:xfrm>
          <a:prstGeom prst="rect">
            <a:avLst/>
          </a:prstGeom>
        </p:spPr>
        <p:txBody>
          <a:bodyPr lIns="0" tIns="0" rIns="0" bIns="0" rtlCol="0" anchor="t">
            <a:spAutoFit/>
          </a:bodyPr>
          <a:lstStyle/>
          <a:p>
            <a:pPr algn="l">
              <a:lnSpc>
                <a:spcPts val="1077"/>
              </a:lnSpc>
              <a:spcBef>
                <a:spcPct val="0"/>
              </a:spcBef>
            </a:pPr>
            <a:r>
              <a:rPr lang="en-US" sz="997">
                <a:solidFill>
                  <a:srgbClr val="FFFFFF"/>
                </a:solidFill>
                <a:latin typeface="Poppins Light"/>
                <a:ea typeface="Poppins Light"/>
                <a:cs typeface="Poppins Light"/>
                <a:sym typeface="Poppins Light"/>
              </a:rPr>
              <a:t>PAGE 4</a:t>
            </a:r>
          </a:p>
        </p:txBody>
      </p:sp>
      <p:sp>
        <p:nvSpPr>
          <p:cNvPr id="25" name="TextBox 25">
            <a:extLst>
              <a:ext uri="{FF2B5EF4-FFF2-40B4-BE49-F238E27FC236}">
                <a16:creationId xmlns:a16="http://schemas.microsoft.com/office/drawing/2014/main" id="{B9557959-EEE3-AD5E-6C37-E3944E0CC380}"/>
              </a:ext>
            </a:extLst>
          </p:cNvPr>
          <p:cNvSpPr txBox="1"/>
          <p:nvPr/>
        </p:nvSpPr>
        <p:spPr>
          <a:xfrm>
            <a:off x="3136520" y="789693"/>
            <a:ext cx="11275121" cy="1744067"/>
          </a:xfrm>
          <a:prstGeom prst="rect">
            <a:avLst/>
          </a:prstGeom>
        </p:spPr>
        <p:txBody>
          <a:bodyPr lIns="0" tIns="0" rIns="0" bIns="0" rtlCol="0" anchor="t">
            <a:spAutoFit/>
          </a:bodyPr>
          <a:lstStyle/>
          <a:p>
            <a:pPr algn="ctr">
              <a:lnSpc>
                <a:spcPts val="6753"/>
              </a:lnSpc>
              <a:spcBef>
                <a:spcPct val="0"/>
              </a:spcBef>
            </a:pPr>
            <a:r>
              <a:rPr lang="en-US" sz="6250" spc="787" dirty="0">
                <a:solidFill>
                  <a:srgbClr val="FFFFFF"/>
                </a:solidFill>
                <a:latin typeface="HK Modular"/>
                <a:ea typeface="HK Modular"/>
                <a:cs typeface="HK Modular"/>
                <a:sym typeface="HK Modular"/>
              </a:rPr>
              <a:t>Decentralized</a:t>
            </a:r>
          </a:p>
          <a:p>
            <a:pPr algn="ctr">
              <a:lnSpc>
                <a:spcPts val="6753"/>
              </a:lnSpc>
              <a:spcBef>
                <a:spcPct val="0"/>
              </a:spcBef>
            </a:pPr>
            <a:r>
              <a:rPr lang="en-US" sz="6250" spc="787" dirty="0">
                <a:solidFill>
                  <a:srgbClr val="FFFFFF"/>
                </a:solidFill>
                <a:latin typeface="HK Modular"/>
                <a:ea typeface="HK Modular"/>
                <a:cs typeface="HK Modular"/>
              </a:rPr>
              <a:t>flow</a:t>
            </a:r>
          </a:p>
        </p:txBody>
      </p:sp>
      <p:pic>
        <p:nvPicPr>
          <p:cNvPr id="23" name="Picture 22" descr="A diagram of a program&#10;&#10;AI-generated content may be incorrect.">
            <a:extLst>
              <a:ext uri="{FF2B5EF4-FFF2-40B4-BE49-F238E27FC236}">
                <a16:creationId xmlns:a16="http://schemas.microsoft.com/office/drawing/2014/main" id="{CD606EAC-DB3B-BFEE-0555-08CCC25BF2BA}"/>
              </a:ext>
            </a:extLst>
          </p:cNvPr>
          <p:cNvPicPr>
            <a:picLocks noChangeAspect="1"/>
          </p:cNvPicPr>
          <p:nvPr/>
        </p:nvPicPr>
        <p:blipFill>
          <a:blip r:embed="rId4"/>
          <a:stretch>
            <a:fillRect/>
          </a:stretch>
        </p:blipFill>
        <p:spPr>
          <a:xfrm>
            <a:off x="2695184" y="2785084"/>
            <a:ext cx="12897632" cy="7206380"/>
          </a:xfrm>
          <a:prstGeom prst="rect">
            <a:avLst/>
          </a:prstGeom>
        </p:spPr>
      </p:pic>
    </p:spTree>
    <p:extLst>
      <p:ext uri="{BB962C8B-B14F-4D97-AF65-F5344CB8AC3E}">
        <p14:creationId xmlns:p14="http://schemas.microsoft.com/office/powerpoint/2010/main" val="2301658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5555" b="-5555"/>
            </a:stretch>
          </a:blipFill>
        </p:spPr>
      </p:sp>
      <p:grpSp>
        <p:nvGrpSpPr>
          <p:cNvPr id="3" name="Group 3"/>
          <p:cNvGrpSpPr/>
          <p:nvPr/>
        </p:nvGrpSpPr>
        <p:grpSpPr>
          <a:xfrm>
            <a:off x="862708" y="795954"/>
            <a:ext cx="331984" cy="202810"/>
            <a:chOff x="0" y="0"/>
            <a:chExt cx="442646" cy="270414"/>
          </a:xfrm>
        </p:grpSpPr>
        <p:grpSp>
          <p:nvGrpSpPr>
            <p:cNvPr id="4" name="Group 4"/>
            <p:cNvGrpSpPr/>
            <p:nvPr/>
          </p:nvGrpSpPr>
          <p:grpSpPr>
            <a:xfrm>
              <a:off x="0" y="0"/>
              <a:ext cx="442646" cy="63500"/>
              <a:chOff x="0" y="0"/>
              <a:chExt cx="87436" cy="12543"/>
            </a:xfrm>
          </p:grpSpPr>
          <p:sp>
            <p:nvSpPr>
              <p:cNvPr id="5" name="Freeform 5"/>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6" name="TextBox 6"/>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7" name="Group 7"/>
            <p:cNvGrpSpPr/>
            <p:nvPr/>
          </p:nvGrpSpPr>
          <p:grpSpPr>
            <a:xfrm>
              <a:off x="0" y="105314"/>
              <a:ext cx="442646" cy="63500"/>
              <a:chOff x="0" y="0"/>
              <a:chExt cx="87436" cy="12543"/>
            </a:xfrm>
          </p:grpSpPr>
          <p:sp>
            <p:nvSpPr>
              <p:cNvPr id="8" name="Freeform 8"/>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9" name="TextBox 9"/>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10" name="Group 10"/>
            <p:cNvGrpSpPr/>
            <p:nvPr/>
          </p:nvGrpSpPr>
          <p:grpSpPr>
            <a:xfrm>
              <a:off x="0" y="206914"/>
              <a:ext cx="442646" cy="63500"/>
              <a:chOff x="0" y="0"/>
              <a:chExt cx="87436" cy="12543"/>
            </a:xfrm>
          </p:grpSpPr>
          <p:sp>
            <p:nvSpPr>
              <p:cNvPr id="11" name="Freeform 11"/>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12" name="TextBox 12"/>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sp>
        <p:nvSpPr>
          <p:cNvPr id="13" name="Freeform 13"/>
          <p:cNvSpPr/>
          <p:nvPr/>
        </p:nvSpPr>
        <p:spPr>
          <a:xfrm>
            <a:off x="16927006" y="746082"/>
            <a:ext cx="332294" cy="302554"/>
          </a:xfrm>
          <a:custGeom>
            <a:avLst/>
            <a:gdLst/>
            <a:ahLst/>
            <a:cxnLst/>
            <a:rect l="l" t="t" r="r" b="b"/>
            <a:pathLst>
              <a:path w="332294" h="302554">
                <a:moveTo>
                  <a:pt x="0" y="0"/>
                </a:moveTo>
                <a:lnTo>
                  <a:pt x="332294" y="0"/>
                </a:lnTo>
                <a:lnTo>
                  <a:pt x="332294" y="302554"/>
                </a:lnTo>
                <a:lnTo>
                  <a:pt x="0" y="30255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1391939" y="859732"/>
            <a:ext cx="528063" cy="139032"/>
          </a:xfrm>
          <a:prstGeom prst="rect">
            <a:avLst/>
          </a:prstGeom>
        </p:spPr>
        <p:txBody>
          <a:bodyPr lIns="0" tIns="0" rIns="0" bIns="0" rtlCol="0" anchor="t">
            <a:spAutoFit/>
          </a:bodyPr>
          <a:lstStyle/>
          <a:p>
            <a:pPr algn="l">
              <a:lnSpc>
                <a:spcPts val="1077"/>
              </a:lnSpc>
              <a:spcBef>
                <a:spcPct val="0"/>
              </a:spcBef>
            </a:pPr>
            <a:r>
              <a:rPr lang="en-US" sz="997">
                <a:solidFill>
                  <a:srgbClr val="FFFFFF"/>
                </a:solidFill>
                <a:latin typeface="Poppins Light"/>
                <a:ea typeface="Poppins Light"/>
                <a:cs typeface="Poppins Light"/>
                <a:sym typeface="Poppins Light"/>
              </a:rPr>
              <a:t>PAGE 8</a:t>
            </a:r>
          </a:p>
        </p:txBody>
      </p:sp>
      <p:grpSp>
        <p:nvGrpSpPr>
          <p:cNvPr id="15" name="Group 15"/>
          <p:cNvGrpSpPr/>
          <p:nvPr/>
        </p:nvGrpSpPr>
        <p:grpSpPr>
          <a:xfrm>
            <a:off x="4415552" y="1238885"/>
            <a:ext cx="20465418" cy="3325025"/>
            <a:chOff x="0" y="0"/>
            <a:chExt cx="5390069" cy="690318"/>
          </a:xfrm>
        </p:grpSpPr>
        <p:sp>
          <p:nvSpPr>
            <p:cNvPr id="16" name="Freeform 16"/>
            <p:cNvSpPr/>
            <p:nvPr/>
          </p:nvSpPr>
          <p:spPr>
            <a:xfrm>
              <a:off x="0" y="0"/>
              <a:ext cx="5390069" cy="690318"/>
            </a:xfrm>
            <a:custGeom>
              <a:avLst/>
              <a:gdLst/>
              <a:ahLst/>
              <a:cxnLst/>
              <a:rect l="l" t="t" r="r" b="b"/>
              <a:pathLst>
                <a:path w="5390069" h="690318">
                  <a:moveTo>
                    <a:pt x="0" y="0"/>
                  </a:moveTo>
                  <a:lnTo>
                    <a:pt x="5390069" y="0"/>
                  </a:lnTo>
                  <a:lnTo>
                    <a:pt x="5390069" y="690318"/>
                  </a:lnTo>
                  <a:lnTo>
                    <a:pt x="0" y="690318"/>
                  </a:lnTo>
                  <a:close/>
                </a:path>
              </a:pathLst>
            </a:custGeom>
            <a:gradFill rotWithShape="1">
              <a:gsLst>
                <a:gs pos="0">
                  <a:srgbClr val="060F1F">
                    <a:alpha val="0"/>
                  </a:srgbClr>
                </a:gs>
                <a:gs pos="33333">
                  <a:srgbClr val="071121">
                    <a:alpha val="100000"/>
                  </a:srgbClr>
                </a:gs>
                <a:gs pos="66667">
                  <a:srgbClr val="4F5661">
                    <a:alpha val="78500"/>
                  </a:srgbClr>
                </a:gs>
                <a:gs pos="100000">
                  <a:srgbClr val="060F1F">
                    <a:alpha val="0"/>
                  </a:srgbClr>
                </a:gs>
              </a:gsLst>
              <a:lin ang="0"/>
            </a:gradFill>
          </p:spPr>
        </p:sp>
        <p:sp>
          <p:nvSpPr>
            <p:cNvPr id="17" name="TextBox 17"/>
            <p:cNvSpPr txBox="1"/>
            <p:nvPr/>
          </p:nvSpPr>
          <p:spPr>
            <a:xfrm>
              <a:off x="0" y="0"/>
              <a:ext cx="5390069" cy="690318"/>
            </a:xfrm>
            <a:prstGeom prst="rect">
              <a:avLst/>
            </a:prstGeom>
          </p:spPr>
          <p:txBody>
            <a:bodyPr lIns="50800" tIns="50800" rIns="50800" bIns="50800" rtlCol="0" anchor="ctr"/>
            <a:lstStyle/>
            <a:p>
              <a:pPr algn="ctr">
                <a:lnSpc>
                  <a:spcPts val="1917"/>
                </a:lnSpc>
              </a:pPr>
              <a:endParaRPr/>
            </a:p>
          </p:txBody>
        </p:sp>
      </p:grpSp>
      <p:grpSp>
        <p:nvGrpSpPr>
          <p:cNvPr id="21" name="Group 21"/>
          <p:cNvGrpSpPr/>
          <p:nvPr/>
        </p:nvGrpSpPr>
        <p:grpSpPr>
          <a:xfrm>
            <a:off x="-14827807" y="4067413"/>
            <a:ext cx="20465418" cy="2152173"/>
            <a:chOff x="0" y="0"/>
            <a:chExt cx="5390069" cy="566828"/>
          </a:xfrm>
        </p:grpSpPr>
        <p:sp>
          <p:nvSpPr>
            <p:cNvPr id="22" name="Freeform 22"/>
            <p:cNvSpPr/>
            <p:nvPr/>
          </p:nvSpPr>
          <p:spPr>
            <a:xfrm>
              <a:off x="0" y="0"/>
              <a:ext cx="5390069" cy="566828"/>
            </a:xfrm>
            <a:custGeom>
              <a:avLst/>
              <a:gdLst/>
              <a:ahLst/>
              <a:cxnLst/>
              <a:rect l="l" t="t" r="r" b="b"/>
              <a:pathLst>
                <a:path w="5390069" h="566828">
                  <a:moveTo>
                    <a:pt x="0" y="0"/>
                  </a:moveTo>
                  <a:lnTo>
                    <a:pt x="5390069" y="0"/>
                  </a:lnTo>
                  <a:lnTo>
                    <a:pt x="5390069" y="566828"/>
                  </a:lnTo>
                  <a:lnTo>
                    <a:pt x="0" y="566828"/>
                  </a:lnTo>
                  <a:close/>
                </a:path>
              </a:pathLst>
            </a:custGeom>
            <a:gradFill rotWithShape="1">
              <a:gsLst>
                <a:gs pos="0">
                  <a:srgbClr val="060F1F">
                    <a:alpha val="0"/>
                  </a:srgbClr>
                </a:gs>
                <a:gs pos="33333">
                  <a:srgbClr val="071121">
                    <a:alpha val="100000"/>
                  </a:srgbClr>
                </a:gs>
                <a:gs pos="66667">
                  <a:srgbClr val="4F5661">
                    <a:alpha val="78500"/>
                  </a:srgbClr>
                </a:gs>
                <a:gs pos="100000">
                  <a:srgbClr val="060F1F">
                    <a:alpha val="0"/>
                  </a:srgbClr>
                </a:gs>
              </a:gsLst>
              <a:lin ang="0"/>
            </a:gradFill>
          </p:spPr>
        </p:sp>
        <p:sp>
          <p:nvSpPr>
            <p:cNvPr id="23" name="TextBox 23"/>
            <p:cNvSpPr txBox="1"/>
            <p:nvPr/>
          </p:nvSpPr>
          <p:spPr>
            <a:xfrm>
              <a:off x="0" y="0"/>
              <a:ext cx="5390069" cy="566828"/>
            </a:xfrm>
            <a:prstGeom prst="rect">
              <a:avLst/>
            </a:prstGeom>
          </p:spPr>
          <p:txBody>
            <a:bodyPr lIns="50800" tIns="50800" rIns="50800" bIns="50800" rtlCol="0" anchor="ctr"/>
            <a:lstStyle/>
            <a:p>
              <a:pPr algn="ctr">
                <a:lnSpc>
                  <a:spcPts val="1917"/>
                </a:lnSpc>
              </a:pPr>
              <a:endParaRPr/>
            </a:p>
          </p:txBody>
        </p:sp>
      </p:grpSp>
      <p:sp>
        <p:nvSpPr>
          <p:cNvPr id="24" name="TextBox 24"/>
          <p:cNvSpPr txBox="1"/>
          <p:nvPr/>
        </p:nvSpPr>
        <p:spPr>
          <a:xfrm>
            <a:off x="1391939" y="4563911"/>
            <a:ext cx="4762374" cy="1409700"/>
          </a:xfrm>
          <a:prstGeom prst="rect">
            <a:avLst/>
          </a:prstGeom>
        </p:spPr>
        <p:txBody>
          <a:bodyPr lIns="0" tIns="0" rIns="0" bIns="0" rtlCol="0" anchor="t">
            <a:spAutoFit/>
          </a:bodyPr>
          <a:lstStyle/>
          <a:p>
            <a:pPr algn="l">
              <a:lnSpc>
                <a:spcPts val="5400"/>
              </a:lnSpc>
              <a:spcBef>
                <a:spcPct val="0"/>
              </a:spcBef>
            </a:pPr>
            <a:r>
              <a:rPr lang="en-US" sz="5000" spc="630">
                <a:solidFill>
                  <a:srgbClr val="FFFFFF"/>
                </a:solidFill>
                <a:latin typeface="HK Modular"/>
                <a:ea typeface="HK Modular"/>
                <a:cs typeface="HK Modular"/>
                <a:sym typeface="HK Modular"/>
              </a:rPr>
              <a:t>Dataset details</a:t>
            </a:r>
          </a:p>
        </p:txBody>
      </p:sp>
      <p:sp>
        <p:nvSpPr>
          <p:cNvPr id="25" name="Freeform 25"/>
          <p:cNvSpPr/>
          <p:nvPr/>
        </p:nvSpPr>
        <p:spPr>
          <a:xfrm>
            <a:off x="-4278196" y="3985232"/>
            <a:ext cx="5798308" cy="2033701"/>
          </a:xfrm>
          <a:custGeom>
            <a:avLst/>
            <a:gdLst/>
            <a:ahLst/>
            <a:cxnLst/>
            <a:rect l="l" t="t" r="r" b="b"/>
            <a:pathLst>
              <a:path w="5798308" h="2033701">
                <a:moveTo>
                  <a:pt x="0" y="0"/>
                </a:moveTo>
                <a:lnTo>
                  <a:pt x="5798308" y="0"/>
                </a:lnTo>
                <a:lnTo>
                  <a:pt x="5798308" y="2033702"/>
                </a:lnTo>
                <a:lnTo>
                  <a:pt x="0" y="2033702"/>
                </a:lnTo>
                <a:lnTo>
                  <a:pt x="0" y="0"/>
                </a:lnTo>
                <a:close/>
              </a:path>
            </a:pathLst>
          </a:custGeom>
          <a:blipFill>
            <a:blip>
              <a:alphaModFix amt="31000"/>
              <a:extLst>
                <a:ext uri="{96DAC541-7B7A-43D3-8B79-37D633B846F1}">
                  <asvg:svgBlip xmlns:asvg="http://schemas.microsoft.com/office/drawing/2016/SVG/main" r:embed="rId4"/>
                </a:ext>
              </a:extLst>
            </a:blip>
            <a:stretch>
              <a:fillRect/>
            </a:stretch>
          </a:blipFill>
        </p:spPr>
      </p:sp>
      <p:sp>
        <p:nvSpPr>
          <p:cNvPr id="26" name="TextBox 26"/>
          <p:cNvSpPr txBox="1"/>
          <p:nvPr/>
        </p:nvSpPr>
        <p:spPr>
          <a:xfrm>
            <a:off x="6705600" y="1595856"/>
            <a:ext cx="11103918" cy="375809"/>
          </a:xfrm>
          <a:prstGeom prst="rect">
            <a:avLst/>
          </a:prstGeom>
        </p:spPr>
        <p:txBody>
          <a:bodyPr wrap="square" lIns="0" tIns="0" rIns="0" bIns="0" rtlCol="0" anchor="t">
            <a:spAutoFit/>
          </a:bodyPr>
          <a:lstStyle/>
          <a:p>
            <a:pPr algn="l">
              <a:lnSpc>
                <a:spcPts val="2915"/>
              </a:lnSpc>
              <a:spcBef>
                <a:spcPct val="0"/>
              </a:spcBef>
            </a:pPr>
            <a:r>
              <a:rPr lang="en-US" sz="2699" b="1" dirty="0">
                <a:solidFill>
                  <a:srgbClr val="FFFFFF"/>
                </a:solidFill>
                <a:latin typeface="Poppins Semi-Bold"/>
                <a:ea typeface="Poppins Semi-Bold"/>
                <a:cs typeface="Poppins Semi-Bold"/>
                <a:sym typeface="Poppins Semi-Bold"/>
              </a:rPr>
              <a:t>NSL-KDD Network Security, Information Security, Cyber Security</a:t>
            </a:r>
          </a:p>
        </p:txBody>
      </p:sp>
      <p:sp>
        <p:nvSpPr>
          <p:cNvPr id="27" name="TextBox 27"/>
          <p:cNvSpPr txBox="1"/>
          <p:nvPr/>
        </p:nvSpPr>
        <p:spPr>
          <a:xfrm>
            <a:off x="6705600" y="2171700"/>
            <a:ext cx="11050902" cy="2406941"/>
          </a:xfrm>
          <a:prstGeom prst="rect">
            <a:avLst/>
          </a:prstGeom>
        </p:spPr>
        <p:txBody>
          <a:bodyPr wrap="square" lIns="0" tIns="0" rIns="0" bIns="0" rtlCol="0" anchor="t">
            <a:spAutoFit/>
          </a:bodyPr>
          <a:lstStyle/>
          <a:p>
            <a:pPr algn="l">
              <a:lnSpc>
                <a:spcPts val="2662"/>
              </a:lnSpc>
            </a:pPr>
            <a:r>
              <a:rPr lang="en-US" sz="1943" dirty="0">
                <a:solidFill>
                  <a:srgbClr val="FFFFFF"/>
                </a:solidFill>
                <a:latin typeface="Poppins Light"/>
                <a:ea typeface="Poppins Light"/>
                <a:cs typeface="Poppins Light"/>
                <a:sym typeface="Poppins Light"/>
              </a:rPr>
              <a:t>The NSL-KDD dataset is a widely used dataset for evaluating and testing Intrusion Detection Systems (IDS). It is a refined version of the original KDD Cup 1999 dataset, which was used in a competition to detect network intrusions</a:t>
            </a:r>
          </a:p>
          <a:p>
            <a:pPr algn="l">
              <a:lnSpc>
                <a:spcPts val="2662"/>
              </a:lnSpc>
            </a:pPr>
            <a:r>
              <a:rPr lang="en-US" sz="1943" dirty="0">
                <a:solidFill>
                  <a:srgbClr val="FFFFFF"/>
                </a:solidFill>
                <a:latin typeface="Poppins Light"/>
                <a:ea typeface="Poppins Light"/>
                <a:cs typeface="Poppins Light"/>
                <a:sym typeface="Poppins Light"/>
              </a:rPr>
              <a:t>Training: 134,677 sequences	Testing: 22,535 sequences</a:t>
            </a:r>
          </a:p>
          <a:p>
            <a:pPr algn="l">
              <a:lnSpc>
                <a:spcPts val="2662"/>
              </a:lnSpc>
            </a:pPr>
            <a:r>
              <a:rPr lang="en-US" sz="1943" dirty="0">
                <a:solidFill>
                  <a:srgbClr val="FFFFFF"/>
                </a:solidFill>
                <a:latin typeface="Poppins Light"/>
                <a:ea typeface="Poppins Light"/>
                <a:cs typeface="Poppins Light"/>
                <a:sym typeface="Poppins Light"/>
              </a:rPr>
              <a:t>Features: 40	Sequence Length: 10 flows</a:t>
            </a:r>
          </a:p>
          <a:p>
            <a:pPr algn="l">
              <a:lnSpc>
                <a:spcPts val="2662"/>
              </a:lnSpc>
            </a:pPr>
            <a:r>
              <a:rPr lang="en-US" sz="1943" dirty="0">
                <a:solidFill>
                  <a:srgbClr val="FFFFFF"/>
                </a:solidFill>
                <a:latin typeface="Poppins Light"/>
                <a:ea typeface="Poppins Light"/>
                <a:cs typeface="Poppins Light"/>
                <a:sym typeface="Poppins Light"/>
              </a:rPr>
              <a:t>Attack Types (4):• DoS• Probe• R2L• U2R</a:t>
            </a:r>
          </a:p>
          <a:p>
            <a:pPr algn="l">
              <a:lnSpc>
                <a:spcPts val="2662"/>
              </a:lnSpc>
            </a:pPr>
            <a:endParaRPr lang="en-US" sz="1943" dirty="0">
              <a:solidFill>
                <a:srgbClr val="FFFFFF"/>
              </a:solidFill>
              <a:latin typeface="Poppins Light"/>
              <a:ea typeface="Poppins Light"/>
              <a:cs typeface="Poppins Light"/>
              <a:sym typeface="Poppins Light"/>
            </a:endParaRPr>
          </a:p>
        </p:txBody>
      </p:sp>
      <p:grpSp>
        <p:nvGrpSpPr>
          <p:cNvPr id="30" name="Group 30"/>
          <p:cNvGrpSpPr/>
          <p:nvPr/>
        </p:nvGrpSpPr>
        <p:grpSpPr>
          <a:xfrm>
            <a:off x="4800600" y="5094855"/>
            <a:ext cx="20465418" cy="4340928"/>
            <a:chOff x="0" y="0"/>
            <a:chExt cx="5390069" cy="723963"/>
          </a:xfrm>
        </p:grpSpPr>
        <p:sp>
          <p:nvSpPr>
            <p:cNvPr id="31" name="Freeform 31"/>
            <p:cNvSpPr/>
            <p:nvPr/>
          </p:nvSpPr>
          <p:spPr>
            <a:xfrm>
              <a:off x="0" y="0"/>
              <a:ext cx="5390069" cy="723963"/>
            </a:xfrm>
            <a:custGeom>
              <a:avLst/>
              <a:gdLst/>
              <a:ahLst/>
              <a:cxnLst/>
              <a:rect l="l" t="t" r="r" b="b"/>
              <a:pathLst>
                <a:path w="5390069" h="723963">
                  <a:moveTo>
                    <a:pt x="0" y="0"/>
                  </a:moveTo>
                  <a:lnTo>
                    <a:pt x="5390069" y="0"/>
                  </a:lnTo>
                  <a:lnTo>
                    <a:pt x="5390069" y="723963"/>
                  </a:lnTo>
                  <a:lnTo>
                    <a:pt x="0" y="723963"/>
                  </a:lnTo>
                  <a:close/>
                </a:path>
              </a:pathLst>
            </a:custGeom>
            <a:gradFill rotWithShape="1">
              <a:gsLst>
                <a:gs pos="0">
                  <a:srgbClr val="060F1F">
                    <a:alpha val="0"/>
                  </a:srgbClr>
                </a:gs>
                <a:gs pos="33333">
                  <a:srgbClr val="071121">
                    <a:alpha val="100000"/>
                  </a:srgbClr>
                </a:gs>
                <a:gs pos="66667">
                  <a:srgbClr val="4F5661">
                    <a:alpha val="78500"/>
                  </a:srgbClr>
                </a:gs>
                <a:gs pos="100000">
                  <a:srgbClr val="060F1F">
                    <a:alpha val="0"/>
                  </a:srgbClr>
                </a:gs>
              </a:gsLst>
              <a:lin ang="0"/>
            </a:gradFill>
          </p:spPr>
        </p:sp>
        <p:sp>
          <p:nvSpPr>
            <p:cNvPr id="32" name="TextBox 32"/>
            <p:cNvSpPr txBox="1"/>
            <p:nvPr/>
          </p:nvSpPr>
          <p:spPr>
            <a:xfrm>
              <a:off x="0" y="0"/>
              <a:ext cx="5390069" cy="723963"/>
            </a:xfrm>
            <a:prstGeom prst="rect">
              <a:avLst/>
            </a:prstGeom>
          </p:spPr>
          <p:txBody>
            <a:bodyPr lIns="50800" tIns="50800" rIns="50800" bIns="50800" rtlCol="0" anchor="ctr"/>
            <a:lstStyle/>
            <a:p>
              <a:pPr algn="ctr">
                <a:lnSpc>
                  <a:spcPts val="1917"/>
                </a:lnSpc>
              </a:pPr>
              <a:endParaRPr/>
            </a:p>
          </p:txBody>
        </p:sp>
      </p:grpSp>
      <p:sp>
        <p:nvSpPr>
          <p:cNvPr id="33" name="TextBox 33"/>
          <p:cNvSpPr txBox="1"/>
          <p:nvPr/>
        </p:nvSpPr>
        <p:spPr>
          <a:xfrm>
            <a:off x="6705600" y="5134198"/>
            <a:ext cx="10133832" cy="403097"/>
          </a:xfrm>
          <a:prstGeom prst="rect">
            <a:avLst/>
          </a:prstGeom>
        </p:spPr>
        <p:txBody>
          <a:bodyPr lIns="0" tIns="0" rIns="0" bIns="0" rtlCol="0" anchor="t">
            <a:spAutoFit/>
          </a:bodyPr>
          <a:lstStyle/>
          <a:p>
            <a:pPr algn="l">
              <a:lnSpc>
                <a:spcPts val="2915"/>
              </a:lnSpc>
              <a:spcBef>
                <a:spcPct val="0"/>
              </a:spcBef>
            </a:pPr>
            <a:r>
              <a:rPr lang="en-US" sz="2699" b="1" dirty="0">
                <a:solidFill>
                  <a:srgbClr val="FFFFFF"/>
                </a:solidFill>
                <a:latin typeface="Poppins Semi-Bold"/>
                <a:ea typeface="Poppins Semi-Bold"/>
                <a:cs typeface="Poppins Semi-Bold"/>
                <a:sym typeface="Poppins Semi-Bold"/>
              </a:rPr>
              <a:t>UNSW_NB15</a:t>
            </a:r>
          </a:p>
        </p:txBody>
      </p:sp>
      <p:sp>
        <p:nvSpPr>
          <p:cNvPr id="34" name="TextBox 34"/>
          <p:cNvSpPr txBox="1"/>
          <p:nvPr/>
        </p:nvSpPr>
        <p:spPr>
          <a:xfrm>
            <a:off x="6681537" y="5594685"/>
            <a:ext cx="10313806" cy="4138184"/>
          </a:xfrm>
          <a:prstGeom prst="rect">
            <a:avLst/>
          </a:prstGeom>
        </p:spPr>
        <p:txBody>
          <a:bodyPr lIns="0" tIns="0" rIns="0" bIns="0" rtlCol="0" anchor="t">
            <a:spAutoFit/>
          </a:bodyPr>
          <a:lstStyle/>
          <a:p>
            <a:pPr algn="l">
              <a:lnSpc>
                <a:spcPts val="2662"/>
              </a:lnSpc>
            </a:pPr>
            <a:r>
              <a:rPr lang="en-US" sz="1943" dirty="0">
                <a:solidFill>
                  <a:srgbClr val="FFFFFF"/>
                </a:solidFill>
                <a:latin typeface="Poppins Light"/>
                <a:ea typeface="Poppins Light"/>
                <a:cs typeface="Poppins Light"/>
                <a:sym typeface="Poppins Light"/>
              </a:rPr>
              <a:t>The number of records in the training set is 175,341 records and the testing set is 82,332 records from the different types</a:t>
            </a:r>
          </a:p>
          <a:p>
            <a:pPr algn="l">
              <a:lnSpc>
                <a:spcPts val="2662"/>
              </a:lnSpc>
            </a:pPr>
            <a:r>
              <a:rPr lang="en-US" sz="1943" dirty="0">
                <a:solidFill>
                  <a:srgbClr val="FFFFFF"/>
                </a:solidFill>
                <a:latin typeface="Poppins Light"/>
                <a:ea typeface="Poppins Light"/>
                <a:cs typeface="Poppins Light"/>
                <a:sym typeface="Poppins Light"/>
              </a:rPr>
              <a:t> Training: 238,673 sequences</a:t>
            </a:r>
          </a:p>
          <a:p>
            <a:pPr algn="l">
              <a:lnSpc>
                <a:spcPts val="2662"/>
              </a:lnSpc>
            </a:pPr>
            <a:r>
              <a:rPr lang="en-US" sz="1943" dirty="0">
                <a:solidFill>
                  <a:srgbClr val="FFFFFF"/>
                </a:solidFill>
                <a:latin typeface="Poppins Light"/>
                <a:ea typeface="Poppins Light"/>
                <a:cs typeface="Poppins Light"/>
                <a:sym typeface="Poppins Light"/>
              </a:rPr>
              <a:t>Testing: 82,323 sequences</a:t>
            </a:r>
          </a:p>
          <a:p>
            <a:pPr algn="l">
              <a:lnSpc>
                <a:spcPts val="2662"/>
              </a:lnSpc>
            </a:pPr>
            <a:r>
              <a:rPr lang="en-US" sz="1943" dirty="0">
                <a:solidFill>
                  <a:srgbClr val="FFFFFF"/>
                </a:solidFill>
                <a:latin typeface="Poppins Light"/>
                <a:ea typeface="Poppins Light"/>
                <a:cs typeface="Poppins Light"/>
                <a:sym typeface="Poppins Light"/>
              </a:rPr>
              <a:t>Features: 44</a:t>
            </a:r>
          </a:p>
          <a:p>
            <a:pPr algn="l">
              <a:lnSpc>
                <a:spcPts val="2662"/>
              </a:lnSpc>
            </a:pPr>
            <a:r>
              <a:rPr lang="en-US" sz="1943" dirty="0">
                <a:solidFill>
                  <a:srgbClr val="FFFFFF"/>
                </a:solidFill>
                <a:latin typeface="Poppins Light"/>
                <a:ea typeface="Poppins Light"/>
                <a:cs typeface="Poppins Light"/>
                <a:sym typeface="Poppins Light"/>
              </a:rPr>
              <a:t>Sequence Length: 10 flows</a:t>
            </a:r>
          </a:p>
          <a:p>
            <a:pPr algn="l">
              <a:lnSpc>
                <a:spcPts val="2662"/>
              </a:lnSpc>
            </a:pPr>
            <a:r>
              <a:rPr lang="en-US" sz="1943" dirty="0">
                <a:solidFill>
                  <a:srgbClr val="FFFFFF"/>
                </a:solidFill>
                <a:latin typeface="Poppins Light"/>
                <a:ea typeface="Poppins Light"/>
                <a:cs typeface="Poppins Light"/>
                <a:sym typeface="Poppins Light"/>
              </a:rPr>
              <a:t>Attack Types (9):</a:t>
            </a:r>
          </a:p>
          <a:p>
            <a:pPr algn="l">
              <a:lnSpc>
                <a:spcPts val="2662"/>
              </a:lnSpc>
            </a:pPr>
            <a:r>
              <a:rPr lang="en-US" sz="1943" dirty="0">
                <a:solidFill>
                  <a:srgbClr val="FFFFFF"/>
                </a:solidFill>
                <a:latin typeface="Poppins Light"/>
                <a:ea typeface="Poppins Light"/>
                <a:cs typeface="Poppins Light"/>
                <a:sym typeface="Poppins Light"/>
              </a:rPr>
              <a:t>• DoS • Reconnaissance</a:t>
            </a:r>
          </a:p>
          <a:p>
            <a:pPr algn="l">
              <a:lnSpc>
                <a:spcPts val="2662"/>
              </a:lnSpc>
            </a:pPr>
            <a:r>
              <a:rPr lang="en-US" sz="1943" dirty="0">
                <a:solidFill>
                  <a:srgbClr val="FFFFFF"/>
                </a:solidFill>
                <a:latin typeface="Poppins Light"/>
                <a:ea typeface="Poppins Light"/>
                <a:cs typeface="Poppins Light"/>
                <a:sym typeface="Poppins Light"/>
              </a:rPr>
              <a:t>• Exploits • </a:t>
            </a:r>
            <a:r>
              <a:rPr lang="en-US" sz="1943" dirty="0" err="1">
                <a:solidFill>
                  <a:srgbClr val="FFFFFF"/>
                </a:solidFill>
                <a:latin typeface="Poppins Light"/>
                <a:ea typeface="Poppins Light"/>
                <a:cs typeface="Poppins Light"/>
                <a:sym typeface="Poppins Light"/>
              </a:rPr>
              <a:t>Fuzzers</a:t>
            </a:r>
            <a:endParaRPr lang="en-US" sz="1943" dirty="0">
              <a:solidFill>
                <a:srgbClr val="FFFFFF"/>
              </a:solidFill>
              <a:latin typeface="Poppins Light"/>
              <a:ea typeface="Poppins Light"/>
              <a:cs typeface="Poppins Light"/>
              <a:sym typeface="Poppins Light"/>
            </a:endParaRPr>
          </a:p>
          <a:p>
            <a:pPr algn="l">
              <a:lnSpc>
                <a:spcPts val="2662"/>
              </a:lnSpc>
            </a:pPr>
            <a:r>
              <a:rPr lang="en-US" sz="1943" dirty="0">
                <a:solidFill>
                  <a:srgbClr val="FFFFFF"/>
                </a:solidFill>
                <a:latin typeface="Poppins Light"/>
                <a:ea typeface="Poppins Light"/>
                <a:cs typeface="Poppins Light"/>
                <a:sym typeface="Poppins Light"/>
              </a:rPr>
              <a:t>• Backdoor • Shellcode</a:t>
            </a:r>
          </a:p>
          <a:p>
            <a:pPr algn="l">
              <a:lnSpc>
                <a:spcPts val="2662"/>
              </a:lnSpc>
            </a:pPr>
            <a:r>
              <a:rPr lang="en-US" sz="1943" dirty="0">
                <a:solidFill>
                  <a:srgbClr val="FFFFFF"/>
                </a:solidFill>
                <a:latin typeface="Poppins Light"/>
                <a:ea typeface="Poppins Light"/>
                <a:cs typeface="Poppins Light"/>
                <a:sym typeface="Poppins Light"/>
              </a:rPr>
              <a:t>• Worms • Analysis • Generic</a:t>
            </a:r>
          </a:p>
          <a:p>
            <a:pPr algn="l">
              <a:lnSpc>
                <a:spcPts val="2662"/>
              </a:lnSpc>
            </a:pPr>
            <a:endParaRPr lang="en-US" sz="1943" dirty="0">
              <a:solidFill>
                <a:srgbClr val="FFFFFF"/>
              </a:solidFill>
              <a:latin typeface="Poppins Light"/>
              <a:ea typeface="Poppins Light"/>
              <a:cs typeface="Poppins Light"/>
              <a:sym typeface="Poppins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reeform 2">
            <a:extLst>
              <a:ext uri="{FF2B5EF4-FFF2-40B4-BE49-F238E27FC236}">
                <a16:creationId xmlns:a16="http://schemas.microsoft.com/office/drawing/2014/main" id="{6CDE8F85-AF9E-DC11-DF97-5A8FE65FF0AB}"/>
              </a:ext>
            </a:extLst>
          </p:cNvPr>
          <p:cNvSpPr/>
          <p:nvPr/>
        </p:nvSpPr>
        <p:spPr>
          <a:xfrm flipH="1">
            <a:off x="-32084" y="26068"/>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t="-5555" b="-5555"/>
            </a:stretch>
          </a:blipFill>
        </p:spPr>
      </p:sp>
      <p:sp>
        <p:nvSpPr>
          <p:cNvPr id="2" name="Text 0"/>
          <p:cNvSpPr/>
          <p:nvPr/>
        </p:nvSpPr>
        <p:spPr>
          <a:xfrm>
            <a:off x="914400" y="731520"/>
            <a:ext cx="16459200" cy="914400"/>
          </a:xfrm>
          <a:prstGeom prst="rect">
            <a:avLst/>
          </a:prstGeom>
          <a:noFill/>
          <a:ln/>
        </p:spPr>
        <p:txBody>
          <a:bodyPr wrap="square" rtlCol="0" anchor="ctr"/>
          <a:lstStyle/>
          <a:p>
            <a:r>
              <a:rPr lang="en-US" sz="7200" b="1" dirty="0">
                <a:solidFill>
                  <a:srgbClr val="FFFFFF"/>
                </a:solidFill>
              </a:rPr>
              <a:t>Performance Results</a:t>
            </a:r>
            <a:endParaRPr lang="en-US" sz="7200" dirty="0"/>
          </a:p>
        </p:txBody>
      </p:sp>
      <p:sp>
        <p:nvSpPr>
          <p:cNvPr id="3" name="Shape 1"/>
          <p:cNvSpPr/>
          <p:nvPr/>
        </p:nvSpPr>
        <p:spPr>
          <a:xfrm>
            <a:off x="914400" y="2377440"/>
            <a:ext cx="5120640" cy="914400"/>
          </a:xfrm>
          <a:prstGeom prst="rect">
            <a:avLst/>
          </a:prstGeom>
          <a:solidFill>
            <a:srgbClr val="028090"/>
          </a:solidFill>
          <a:ln/>
        </p:spPr>
      </p:sp>
      <p:sp>
        <p:nvSpPr>
          <p:cNvPr id="4" name="Text 2"/>
          <p:cNvSpPr/>
          <p:nvPr/>
        </p:nvSpPr>
        <p:spPr>
          <a:xfrm>
            <a:off x="914400" y="2377440"/>
            <a:ext cx="5120640" cy="914400"/>
          </a:xfrm>
          <a:prstGeom prst="rect">
            <a:avLst/>
          </a:prstGeom>
          <a:noFill/>
          <a:ln/>
        </p:spPr>
        <p:txBody>
          <a:bodyPr wrap="square" rtlCol="0" anchor="ctr"/>
          <a:lstStyle/>
          <a:p>
            <a:pPr algn="ctr"/>
            <a:r>
              <a:rPr lang="en-US" sz="2800" b="1" dirty="0">
                <a:solidFill>
                  <a:srgbClr val="FFFFFF"/>
                </a:solidFill>
              </a:rPr>
              <a:t>Metric</a:t>
            </a:r>
            <a:endParaRPr lang="en-US" sz="2800" dirty="0"/>
          </a:p>
        </p:txBody>
      </p:sp>
      <p:sp>
        <p:nvSpPr>
          <p:cNvPr id="5" name="Shape 3"/>
          <p:cNvSpPr/>
          <p:nvPr/>
        </p:nvSpPr>
        <p:spPr>
          <a:xfrm>
            <a:off x="7315200" y="2377440"/>
            <a:ext cx="5120640" cy="914400"/>
          </a:xfrm>
          <a:prstGeom prst="rect">
            <a:avLst/>
          </a:prstGeom>
          <a:solidFill>
            <a:srgbClr val="028090"/>
          </a:solidFill>
          <a:ln/>
        </p:spPr>
      </p:sp>
      <p:sp>
        <p:nvSpPr>
          <p:cNvPr id="6" name="Text 4"/>
          <p:cNvSpPr/>
          <p:nvPr/>
        </p:nvSpPr>
        <p:spPr>
          <a:xfrm>
            <a:off x="7315200" y="2377440"/>
            <a:ext cx="5120640" cy="914400"/>
          </a:xfrm>
          <a:prstGeom prst="rect">
            <a:avLst/>
          </a:prstGeom>
          <a:noFill/>
          <a:ln/>
        </p:spPr>
        <p:txBody>
          <a:bodyPr wrap="square" rtlCol="0" anchor="ctr"/>
          <a:lstStyle/>
          <a:p>
            <a:pPr algn="ctr"/>
            <a:r>
              <a:rPr lang="en-US" sz="2800" b="1" dirty="0">
                <a:solidFill>
                  <a:srgbClr val="FFFFFF"/>
                </a:solidFill>
              </a:rPr>
              <a:t>NSL-KDD</a:t>
            </a:r>
            <a:endParaRPr lang="en-US" sz="2800" dirty="0"/>
          </a:p>
        </p:txBody>
      </p:sp>
      <p:sp>
        <p:nvSpPr>
          <p:cNvPr id="7" name="Shape 5"/>
          <p:cNvSpPr/>
          <p:nvPr/>
        </p:nvSpPr>
        <p:spPr>
          <a:xfrm>
            <a:off x="12801600" y="2377440"/>
            <a:ext cx="5120640" cy="914400"/>
          </a:xfrm>
          <a:prstGeom prst="rect">
            <a:avLst/>
          </a:prstGeom>
          <a:solidFill>
            <a:srgbClr val="028090"/>
          </a:solidFill>
          <a:ln/>
        </p:spPr>
      </p:sp>
      <p:sp>
        <p:nvSpPr>
          <p:cNvPr id="8" name="Text 6"/>
          <p:cNvSpPr/>
          <p:nvPr/>
        </p:nvSpPr>
        <p:spPr>
          <a:xfrm>
            <a:off x="12801600" y="2377440"/>
            <a:ext cx="5120640" cy="914400"/>
          </a:xfrm>
          <a:prstGeom prst="rect">
            <a:avLst/>
          </a:prstGeom>
          <a:noFill/>
          <a:ln/>
        </p:spPr>
        <p:txBody>
          <a:bodyPr wrap="square" rtlCol="0" anchor="ctr"/>
          <a:lstStyle/>
          <a:p>
            <a:pPr algn="ctr"/>
            <a:r>
              <a:rPr lang="en-US" sz="2800" b="1" dirty="0">
                <a:solidFill>
                  <a:srgbClr val="FFFFFF"/>
                </a:solidFill>
              </a:rPr>
              <a:t>UNSW-NB15</a:t>
            </a:r>
            <a:endParaRPr lang="en-US" sz="2800" dirty="0"/>
          </a:p>
        </p:txBody>
      </p:sp>
      <p:sp>
        <p:nvSpPr>
          <p:cNvPr id="9" name="Shape 7"/>
          <p:cNvSpPr/>
          <p:nvPr/>
        </p:nvSpPr>
        <p:spPr>
          <a:xfrm>
            <a:off x="914400" y="3291840"/>
            <a:ext cx="5120640" cy="914400"/>
          </a:xfrm>
          <a:prstGeom prst="rect">
            <a:avLst/>
          </a:prstGeom>
          <a:solidFill>
            <a:srgbClr val="141B44"/>
          </a:solidFill>
          <a:ln w="12700">
            <a:solidFill>
              <a:srgbClr val="1E2761"/>
            </a:solidFill>
            <a:prstDash val="solid"/>
          </a:ln>
        </p:spPr>
      </p:sp>
      <p:sp>
        <p:nvSpPr>
          <p:cNvPr id="10" name="Text 8"/>
          <p:cNvSpPr/>
          <p:nvPr/>
        </p:nvSpPr>
        <p:spPr>
          <a:xfrm>
            <a:off x="914400" y="3291840"/>
            <a:ext cx="5120640" cy="914400"/>
          </a:xfrm>
          <a:prstGeom prst="rect">
            <a:avLst/>
          </a:prstGeom>
          <a:noFill/>
          <a:ln/>
        </p:spPr>
        <p:txBody>
          <a:bodyPr wrap="square" rtlCol="0" anchor="ctr"/>
          <a:lstStyle/>
          <a:p>
            <a:pPr algn="ctr"/>
            <a:r>
              <a:rPr lang="en-US" sz="2600" b="1" dirty="0">
                <a:solidFill>
                  <a:srgbClr val="FFFFFF"/>
                </a:solidFill>
              </a:rPr>
              <a:t>Accuracy</a:t>
            </a:r>
            <a:endParaRPr lang="en-US" sz="2600" dirty="0"/>
          </a:p>
        </p:txBody>
      </p:sp>
      <p:sp>
        <p:nvSpPr>
          <p:cNvPr id="11" name="Shape 9"/>
          <p:cNvSpPr/>
          <p:nvPr/>
        </p:nvSpPr>
        <p:spPr>
          <a:xfrm>
            <a:off x="7315200" y="3291840"/>
            <a:ext cx="5120640" cy="914400"/>
          </a:xfrm>
          <a:prstGeom prst="rect">
            <a:avLst/>
          </a:prstGeom>
          <a:solidFill>
            <a:srgbClr val="141B44"/>
          </a:solidFill>
          <a:ln w="12700">
            <a:solidFill>
              <a:srgbClr val="1E2761"/>
            </a:solidFill>
            <a:prstDash val="solid"/>
          </a:ln>
        </p:spPr>
      </p:sp>
      <p:sp>
        <p:nvSpPr>
          <p:cNvPr id="12" name="Text 10"/>
          <p:cNvSpPr/>
          <p:nvPr/>
        </p:nvSpPr>
        <p:spPr>
          <a:xfrm>
            <a:off x="7315200" y="3291840"/>
            <a:ext cx="5120640" cy="914400"/>
          </a:xfrm>
          <a:prstGeom prst="rect">
            <a:avLst/>
          </a:prstGeom>
          <a:noFill/>
          <a:ln/>
        </p:spPr>
        <p:txBody>
          <a:bodyPr wrap="square" rtlCol="0" anchor="ctr"/>
          <a:lstStyle/>
          <a:p>
            <a:pPr algn="ctr"/>
            <a:r>
              <a:rPr lang="en-US" sz="2600" dirty="0">
                <a:solidFill>
                  <a:srgbClr val="CADCFC"/>
                </a:solidFill>
              </a:rPr>
              <a:t>77.95%</a:t>
            </a:r>
            <a:endParaRPr lang="en-US" sz="2600" dirty="0"/>
          </a:p>
        </p:txBody>
      </p:sp>
      <p:sp>
        <p:nvSpPr>
          <p:cNvPr id="13" name="Shape 11"/>
          <p:cNvSpPr/>
          <p:nvPr/>
        </p:nvSpPr>
        <p:spPr>
          <a:xfrm>
            <a:off x="12801600" y="3291840"/>
            <a:ext cx="5120640" cy="914400"/>
          </a:xfrm>
          <a:prstGeom prst="rect">
            <a:avLst/>
          </a:prstGeom>
          <a:solidFill>
            <a:srgbClr val="141B44"/>
          </a:solidFill>
          <a:ln w="12700">
            <a:solidFill>
              <a:srgbClr val="1E2761"/>
            </a:solidFill>
            <a:prstDash val="solid"/>
          </a:ln>
        </p:spPr>
      </p:sp>
      <p:sp>
        <p:nvSpPr>
          <p:cNvPr id="14" name="Text 12"/>
          <p:cNvSpPr/>
          <p:nvPr/>
        </p:nvSpPr>
        <p:spPr>
          <a:xfrm>
            <a:off x="12801600" y="3291840"/>
            <a:ext cx="5120640" cy="914400"/>
          </a:xfrm>
          <a:prstGeom prst="rect">
            <a:avLst/>
          </a:prstGeom>
          <a:noFill/>
          <a:ln/>
        </p:spPr>
        <p:txBody>
          <a:bodyPr wrap="square" rtlCol="0" anchor="ctr"/>
          <a:lstStyle/>
          <a:p>
            <a:pPr algn="ctr"/>
            <a:r>
              <a:rPr lang="en-US" sz="2600" dirty="0">
                <a:solidFill>
                  <a:srgbClr val="CADCFC"/>
                </a:solidFill>
              </a:rPr>
              <a:t>86.01%</a:t>
            </a:r>
            <a:endParaRPr lang="en-US" sz="2600" dirty="0"/>
          </a:p>
        </p:txBody>
      </p:sp>
      <p:sp>
        <p:nvSpPr>
          <p:cNvPr id="15" name="Shape 13"/>
          <p:cNvSpPr/>
          <p:nvPr/>
        </p:nvSpPr>
        <p:spPr>
          <a:xfrm>
            <a:off x="914400" y="4206240"/>
            <a:ext cx="5120640" cy="914400"/>
          </a:xfrm>
          <a:prstGeom prst="rect">
            <a:avLst/>
          </a:prstGeom>
          <a:solidFill>
            <a:srgbClr val="0A0F2E"/>
          </a:solidFill>
          <a:ln w="12700">
            <a:solidFill>
              <a:srgbClr val="1E2761"/>
            </a:solidFill>
            <a:prstDash val="solid"/>
          </a:ln>
        </p:spPr>
      </p:sp>
      <p:sp>
        <p:nvSpPr>
          <p:cNvPr id="16" name="Text 14"/>
          <p:cNvSpPr/>
          <p:nvPr/>
        </p:nvSpPr>
        <p:spPr>
          <a:xfrm>
            <a:off x="914400" y="4206240"/>
            <a:ext cx="5120640" cy="914400"/>
          </a:xfrm>
          <a:prstGeom prst="rect">
            <a:avLst/>
          </a:prstGeom>
          <a:noFill/>
          <a:ln/>
        </p:spPr>
        <p:txBody>
          <a:bodyPr wrap="square" rtlCol="0" anchor="ctr"/>
          <a:lstStyle/>
          <a:p>
            <a:pPr algn="ctr"/>
            <a:r>
              <a:rPr lang="en-US" sz="2600" b="1" dirty="0">
                <a:solidFill>
                  <a:srgbClr val="FFFFFF"/>
                </a:solidFill>
              </a:rPr>
              <a:t>Precision</a:t>
            </a:r>
            <a:endParaRPr lang="en-US" sz="2600" dirty="0"/>
          </a:p>
        </p:txBody>
      </p:sp>
      <p:sp>
        <p:nvSpPr>
          <p:cNvPr id="17" name="Shape 15"/>
          <p:cNvSpPr/>
          <p:nvPr/>
        </p:nvSpPr>
        <p:spPr>
          <a:xfrm>
            <a:off x="7315200" y="4206240"/>
            <a:ext cx="5120640" cy="914400"/>
          </a:xfrm>
          <a:prstGeom prst="rect">
            <a:avLst/>
          </a:prstGeom>
          <a:solidFill>
            <a:srgbClr val="0A0F2E"/>
          </a:solidFill>
          <a:ln w="12700">
            <a:solidFill>
              <a:srgbClr val="1E2761"/>
            </a:solidFill>
            <a:prstDash val="solid"/>
          </a:ln>
        </p:spPr>
      </p:sp>
      <p:sp>
        <p:nvSpPr>
          <p:cNvPr id="18" name="Text 16"/>
          <p:cNvSpPr/>
          <p:nvPr/>
        </p:nvSpPr>
        <p:spPr>
          <a:xfrm>
            <a:off x="7315200" y="4206240"/>
            <a:ext cx="5120640" cy="914400"/>
          </a:xfrm>
          <a:prstGeom prst="rect">
            <a:avLst/>
          </a:prstGeom>
          <a:noFill/>
          <a:ln/>
        </p:spPr>
        <p:txBody>
          <a:bodyPr wrap="square" rtlCol="0" anchor="ctr"/>
          <a:lstStyle/>
          <a:p>
            <a:pPr algn="ctr"/>
            <a:r>
              <a:rPr lang="en-US" sz="2600" dirty="0">
                <a:solidFill>
                  <a:srgbClr val="27AE60"/>
                </a:solidFill>
              </a:rPr>
              <a:t>97.25%</a:t>
            </a:r>
            <a:endParaRPr lang="en-US" sz="2600" dirty="0"/>
          </a:p>
        </p:txBody>
      </p:sp>
      <p:sp>
        <p:nvSpPr>
          <p:cNvPr id="19" name="Shape 17"/>
          <p:cNvSpPr/>
          <p:nvPr/>
        </p:nvSpPr>
        <p:spPr>
          <a:xfrm>
            <a:off x="12801600" y="4206240"/>
            <a:ext cx="5120640" cy="914400"/>
          </a:xfrm>
          <a:prstGeom prst="rect">
            <a:avLst/>
          </a:prstGeom>
          <a:solidFill>
            <a:srgbClr val="0A0F2E"/>
          </a:solidFill>
          <a:ln w="12700">
            <a:solidFill>
              <a:srgbClr val="1E2761"/>
            </a:solidFill>
            <a:prstDash val="solid"/>
          </a:ln>
        </p:spPr>
      </p:sp>
      <p:sp>
        <p:nvSpPr>
          <p:cNvPr id="20" name="Text 18"/>
          <p:cNvSpPr/>
          <p:nvPr/>
        </p:nvSpPr>
        <p:spPr>
          <a:xfrm>
            <a:off x="12801600" y="4206240"/>
            <a:ext cx="5120640" cy="914400"/>
          </a:xfrm>
          <a:prstGeom prst="rect">
            <a:avLst/>
          </a:prstGeom>
          <a:noFill/>
          <a:ln/>
        </p:spPr>
        <p:txBody>
          <a:bodyPr wrap="square" rtlCol="0" anchor="ctr"/>
          <a:lstStyle/>
          <a:p>
            <a:pPr algn="ctr"/>
            <a:r>
              <a:rPr lang="en-US" sz="2600" b="1" dirty="0">
                <a:solidFill>
                  <a:srgbClr val="27AE60"/>
                </a:solidFill>
              </a:rPr>
              <a:t>100.00%</a:t>
            </a:r>
            <a:endParaRPr lang="en-US" sz="2600" dirty="0"/>
          </a:p>
        </p:txBody>
      </p:sp>
      <p:sp>
        <p:nvSpPr>
          <p:cNvPr id="21" name="Shape 19"/>
          <p:cNvSpPr/>
          <p:nvPr/>
        </p:nvSpPr>
        <p:spPr>
          <a:xfrm>
            <a:off x="914400" y="5120640"/>
            <a:ext cx="5120640" cy="914400"/>
          </a:xfrm>
          <a:prstGeom prst="rect">
            <a:avLst/>
          </a:prstGeom>
          <a:solidFill>
            <a:srgbClr val="141B44"/>
          </a:solidFill>
          <a:ln w="12700">
            <a:solidFill>
              <a:srgbClr val="1E2761"/>
            </a:solidFill>
            <a:prstDash val="solid"/>
          </a:ln>
        </p:spPr>
      </p:sp>
      <p:sp>
        <p:nvSpPr>
          <p:cNvPr id="22" name="Text 20"/>
          <p:cNvSpPr/>
          <p:nvPr/>
        </p:nvSpPr>
        <p:spPr>
          <a:xfrm>
            <a:off x="914400" y="5120640"/>
            <a:ext cx="5120640" cy="914400"/>
          </a:xfrm>
          <a:prstGeom prst="rect">
            <a:avLst/>
          </a:prstGeom>
          <a:noFill/>
          <a:ln/>
        </p:spPr>
        <p:txBody>
          <a:bodyPr wrap="square" rtlCol="0" anchor="ctr"/>
          <a:lstStyle/>
          <a:p>
            <a:pPr algn="ctr"/>
            <a:r>
              <a:rPr lang="en-US" sz="2600" b="1" dirty="0">
                <a:solidFill>
                  <a:srgbClr val="FFFFFF"/>
                </a:solidFill>
              </a:rPr>
              <a:t>Recall</a:t>
            </a:r>
            <a:endParaRPr lang="en-US" sz="2600" dirty="0"/>
          </a:p>
        </p:txBody>
      </p:sp>
      <p:sp>
        <p:nvSpPr>
          <p:cNvPr id="23" name="Shape 21"/>
          <p:cNvSpPr/>
          <p:nvPr/>
        </p:nvSpPr>
        <p:spPr>
          <a:xfrm>
            <a:off x="7315200" y="5120640"/>
            <a:ext cx="5120640" cy="914400"/>
          </a:xfrm>
          <a:prstGeom prst="rect">
            <a:avLst/>
          </a:prstGeom>
          <a:solidFill>
            <a:srgbClr val="141B44"/>
          </a:solidFill>
          <a:ln w="12700">
            <a:solidFill>
              <a:srgbClr val="1E2761"/>
            </a:solidFill>
            <a:prstDash val="solid"/>
          </a:ln>
        </p:spPr>
      </p:sp>
      <p:sp>
        <p:nvSpPr>
          <p:cNvPr id="24" name="Text 22"/>
          <p:cNvSpPr/>
          <p:nvPr/>
        </p:nvSpPr>
        <p:spPr>
          <a:xfrm>
            <a:off x="7315200" y="5120640"/>
            <a:ext cx="5120640" cy="914400"/>
          </a:xfrm>
          <a:prstGeom prst="rect">
            <a:avLst/>
          </a:prstGeom>
          <a:noFill/>
          <a:ln/>
        </p:spPr>
        <p:txBody>
          <a:bodyPr wrap="square" rtlCol="0" anchor="ctr"/>
          <a:lstStyle/>
          <a:p>
            <a:pPr algn="ctr"/>
            <a:r>
              <a:rPr lang="en-US" sz="2600" dirty="0">
                <a:solidFill>
                  <a:srgbClr val="CADCFC"/>
                </a:solidFill>
              </a:rPr>
              <a:t>63.05%</a:t>
            </a:r>
            <a:endParaRPr lang="en-US" sz="2600" dirty="0"/>
          </a:p>
        </p:txBody>
      </p:sp>
      <p:sp>
        <p:nvSpPr>
          <p:cNvPr id="25" name="Shape 23"/>
          <p:cNvSpPr/>
          <p:nvPr/>
        </p:nvSpPr>
        <p:spPr>
          <a:xfrm>
            <a:off x="12801600" y="5120640"/>
            <a:ext cx="5120640" cy="914400"/>
          </a:xfrm>
          <a:prstGeom prst="rect">
            <a:avLst/>
          </a:prstGeom>
          <a:solidFill>
            <a:srgbClr val="141B44"/>
          </a:solidFill>
          <a:ln w="12700">
            <a:solidFill>
              <a:srgbClr val="1E2761"/>
            </a:solidFill>
            <a:prstDash val="solid"/>
          </a:ln>
        </p:spPr>
      </p:sp>
      <p:sp>
        <p:nvSpPr>
          <p:cNvPr id="26" name="Text 24"/>
          <p:cNvSpPr/>
          <p:nvPr/>
        </p:nvSpPr>
        <p:spPr>
          <a:xfrm>
            <a:off x="12801600" y="5120640"/>
            <a:ext cx="5120640" cy="914400"/>
          </a:xfrm>
          <a:prstGeom prst="rect">
            <a:avLst/>
          </a:prstGeom>
          <a:noFill/>
          <a:ln/>
        </p:spPr>
        <p:txBody>
          <a:bodyPr wrap="square" rtlCol="0" anchor="ctr"/>
          <a:lstStyle/>
          <a:p>
            <a:pPr algn="ctr"/>
            <a:r>
              <a:rPr lang="en-US" sz="2600" dirty="0">
                <a:solidFill>
                  <a:srgbClr val="CADCFC"/>
                </a:solidFill>
              </a:rPr>
              <a:t>84.60%</a:t>
            </a:r>
            <a:endParaRPr lang="en-US" sz="2600" dirty="0"/>
          </a:p>
        </p:txBody>
      </p:sp>
      <p:sp>
        <p:nvSpPr>
          <p:cNvPr id="27" name="Shape 25"/>
          <p:cNvSpPr/>
          <p:nvPr/>
        </p:nvSpPr>
        <p:spPr>
          <a:xfrm>
            <a:off x="914400" y="6035040"/>
            <a:ext cx="5120640" cy="914400"/>
          </a:xfrm>
          <a:prstGeom prst="rect">
            <a:avLst/>
          </a:prstGeom>
          <a:solidFill>
            <a:srgbClr val="0A0F2E"/>
          </a:solidFill>
          <a:ln w="12700">
            <a:solidFill>
              <a:srgbClr val="1E2761"/>
            </a:solidFill>
            <a:prstDash val="solid"/>
          </a:ln>
        </p:spPr>
      </p:sp>
      <p:sp>
        <p:nvSpPr>
          <p:cNvPr id="28" name="Text 26"/>
          <p:cNvSpPr/>
          <p:nvPr/>
        </p:nvSpPr>
        <p:spPr>
          <a:xfrm>
            <a:off x="914400" y="6035040"/>
            <a:ext cx="5120640" cy="914400"/>
          </a:xfrm>
          <a:prstGeom prst="rect">
            <a:avLst/>
          </a:prstGeom>
          <a:noFill/>
          <a:ln/>
        </p:spPr>
        <p:txBody>
          <a:bodyPr wrap="square" rtlCol="0" anchor="ctr"/>
          <a:lstStyle/>
          <a:p>
            <a:pPr algn="ctr"/>
            <a:r>
              <a:rPr lang="en-US" sz="2600" b="1" dirty="0">
                <a:solidFill>
                  <a:srgbClr val="FFFFFF"/>
                </a:solidFill>
              </a:rPr>
              <a:t>F1-Score</a:t>
            </a:r>
            <a:endParaRPr lang="en-US" sz="2600" dirty="0"/>
          </a:p>
        </p:txBody>
      </p:sp>
      <p:sp>
        <p:nvSpPr>
          <p:cNvPr id="29" name="Shape 27"/>
          <p:cNvSpPr/>
          <p:nvPr/>
        </p:nvSpPr>
        <p:spPr>
          <a:xfrm>
            <a:off x="7315200" y="6035040"/>
            <a:ext cx="5120640" cy="914400"/>
          </a:xfrm>
          <a:prstGeom prst="rect">
            <a:avLst/>
          </a:prstGeom>
          <a:solidFill>
            <a:srgbClr val="0A0F2E"/>
          </a:solidFill>
          <a:ln w="12700">
            <a:solidFill>
              <a:srgbClr val="1E2761"/>
            </a:solidFill>
            <a:prstDash val="solid"/>
          </a:ln>
        </p:spPr>
      </p:sp>
      <p:sp>
        <p:nvSpPr>
          <p:cNvPr id="30" name="Text 28"/>
          <p:cNvSpPr/>
          <p:nvPr/>
        </p:nvSpPr>
        <p:spPr>
          <a:xfrm>
            <a:off x="7315200" y="6035040"/>
            <a:ext cx="5120640" cy="914400"/>
          </a:xfrm>
          <a:prstGeom prst="rect">
            <a:avLst/>
          </a:prstGeom>
          <a:noFill/>
          <a:ln/>
        </p:spPr>
        <p:txBody>
          <a:bodyPr wrap="square" rtlCol="0" anchor="ctr"/>
          <a:lstStyle/>
          <a:p>
            <a:pPr algn="ctr"/>
            <a:r>
              <a:rPr lang="en-US" sz="2600" dirty="0">
                <a:solidFill>
                  <a:srgbClr val="CADCFC"/>
                </a:solidFill>
              </a:rPr>
              <a:t>76.50%</a:t>
            </a:r>
            <a:endParaRPr lang="en-US" sz="2600" dirty="0"/>
          </a:p>
        </p:txBody>
      </p:sp>
      <p:sp>
        <p:nvSpPr>
          <p:cNvPr id="31" name="Shape 29"/>
          <p:cNvSpPr/>
          <p:nvPr/>
        </p:nvSpPr>
        <p:spPr>
          <a:xfrm>
            <a:off x="12801600" y="6035040"/>
            <a:ext cx="5120640" cy="914400"/>
          </a:xfrm>
          <a:prstGeom prst="rect">
            <a:avLst/>
          </a:prstGeom>
          <a:solidFill>
            <a:srgbClr val="0A0F2E"/>
          </a:solidFill>
          <a:ln w="12700">
            <a:solidFill>
              <a:srgbClr val="1E2761"/>
            </a:solidFill>
            <a:prstDash val="solid"/>
          </a:ln>
        </p:spPr>
      </p:sp>
      <p:sp>
        <p:nvSpPr>
          <p:cNvPr id="32" name="Text 30"/>
          <p:cNvSpPr/>
          <p:nvPr/>
        </p:nvSpPr>
        <p:spPr>
          <a:xfrm>
            <a:off x="12801600" y="6035040"/>
            <a:ext cx="5120640" cy="914400"/>
          </a:xfrm>
          <a:prstGeom prst="rect">
            <a:avLst/>
          </a:prstGeom>
          <a:noFill/>
          <a:ln/>
        </p:spPr>
        <p:txBody>
          <a:bodyPr wrap="square" rtlCol="0" anchor="ctr"/>
          <a:lstStyle/>
          <a:p>
            <a:pPr algn="ctr"/>
            <a:r>
              <a:rPr lang="en-US" sz="2600" dirty="0">
                <a:solidFill>
                  <a:srgbClr val="CADCFC"/>
                </a:solidFill>
              </a:rPr>
              <a:t>85.45%</a:t>
            </a:r>
            <a:endParaRPr lang="en-US" sz="2600" dirty="0"/>
          </a:p>
        </p:txBody>
      </p:sp>
      <p:sp>
        <p:nvSpPr>
          <p:cNvPr id="33" name="Shape 31"/>
          <p:cNvSpPr/>
          <p:nvPr/>
        </p:nvSpPr>
        <p:spPr>
          <a:xfrm>
            <a:off x="914400" y="7680960"/>
            <a:ext cx="16459200" cy="1463040"/>
          </a:xfrm>
          <a:prstGeom prst="roundRect">
            <a:avLst/>
          </a:prstGeom>
          <a:solidFill>
            <a:srgbClr val="02C39A">
              <a:alpha val="80000"/>
            </a:srgbClr>
          </a:solidFill>
          <a:ln w="25400">
            <a:solidFill>
              <a:srgbClr val="02C39A"/>
            </a:solidFill>
            <a:prstDash val="solid"/>
          </a:ln>
        </p:spPr>
      </p:sp>
      <p:sp>
        <p:nvSpPr>
          <p:cNvPr id="34" name="Text 32"/>
          <p:cNvSpPr/>
          <p:nvPr/>
        </p:nvSpPr>
        <p:spPr>
          <a:xfrm>
            <a:off x="1280160" y="8046720"/>
            <a:ext cx="15727680" cy="731520"/>
          </a:xfrm>
          <a:prstGeom prst="rect">
            <a:avLst/>
          </a:prstGeom>
          <a:noFill/>
          <a:ln/>
        </p:spPr>
        <p:txBody>
          <a:bodyPr wrap="square" rtlCol="0" anchor="ctr"/>
          <a:lstStyle/>
          <a:p>
            <a:pPr algn="ctr"/>
            <a:r>
              <a:rPr lang="en-US" sz="3200" b="1" dirty="0">
                <a:solidFill>
                  <a:srgbClr val="FFFFFF"/>
                </a:solidFill>
              </a:rPr>
              <a:t>🎯 Key Achievement: 100% Precision on UNSW-NB15 = Zero False Positives</a:t>
            </a: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2">
            <a:extLst>
              <a:ext uri="{FF2B5EF4-FFF2-40B4-BE49-F238E27FC236}">
                <a16:creationId xmlns:a16="http://schemas.microsoft.com/office/drawing/2014/main" id="{B9685CF1-F780-D073-AA4A-48F5F968473B}"/>
              </a:ext>
            </a:extLst>
          </p:cNvPr>
          <p:cNvSpPr/>
          <p:nvPr/>
        </p:nvSpPr>
        <p:spPr>
          <a:xfrm flipH="1">
            <a:off x="-32084" y="26068"/>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t="-5555" b="-5555"/>
            </a:stretch>
          </a:blipFill>
        </p:spPr>
      </p:sp>
      <p:sp>
        <p:nvSpPr>
          <p:cNvPr id="2" name="Text 0"/>
          <p:cNvSpPr/>
          <p:nvPr/>
        </p:nvSpPr>
        <p:spPr>
          <a:xfrm>
            <a:off x="914400" y="731520"/>
            <a:ext cx="16459200" cy="914400"/>
          </a:xfrm>
          <a:prstGeom prst="rect">
            <a:avLst/>
          </a:prstGeom>
          <a:noFill/>
          <a:ln/>
        </p:spPr>
        <p:txBody>
          <a:bodyPr wrap="square" rtlCol="0" anchor="ctr"/>
          <a:lstStyle/>
          <a:p>
            <a:r>
              <a:rPr lang="en-US" sz="6400" b="1" dirty="0">
                <a:solidFill>
                  <a:schemeClr val="bg1"/>
                </a:solidFill>
              </a:rPr>
              <a:t>Precision-Recall Trade-off Analysis</a:t>
            </a:r>
            <a:endParaRPr lang="en-US" sz="6400" dirty="0">
              <a:solidFill>
                <a:schemeClr val="bg1"/>
              </a:solidFill>
            </a:endParaRPr>
          </a:p>
        </p:txBody>
      </p:sp>
      <p:sp>
        <p:nvSpPr>
          <p:cNvPr id="3" name="Text 1"/>
          <p:cNvSpPr/>
          <p:nvPr/>
        </p:nvSpPr>
        <p:spPr>
          <a:xfrm>
            <a:off x="914400" y="1828800"/>
            <a:ext cx="16459200" cy="731520"/>
          </a:xfrm>
          <a:prstGeom prst="rect">
            <a:avLst/>
          </a:prstGeom>
          <a:noFill/>
          <a:ln/>
        </p:spPr>
        <p:txBody>
          <a:bodyPr wrap="square" rtlCol="0" anchor="ctr"/>
          <a:lstStyle/>
          <a:p>
            <a:r>
              <a:rPr lang="en-US" sz="3600" b="1" dirty="0">
                <a:solidFill>
                  <a:schemeClr val="bg1"/>
                </a:solidFill>
              </a:rPr>
              <a:t>UNSW-NB15: Conservative Threshold Strategy</a:t>
            </a:r>
            <a:endParaRPr lang="en-US" sz="3600" dirty="0">
              <a:solidFill>
                <a:schemeClr val="bg1"/>
              </a:solidFill>
            </a:endParaRPr>
          </a:p>
        </p:txBody>
      </p:sp>
      <p:sp>
        <p:nvSpPr>
          <p:cNvPr id="4" name="Shape 2"/>
          <p:cNvSpPr/>
          <p:nvPr/>
        </p:nvSpPr>
        <p:spPr>
          <a:xfrm>
            <a:off x="914400" y="2926080"/>
            <a:ext cx="7863840" cy="2194560"/>
          </a:xfrm>
          <a:prstGeom prst="roundRect">
            <a:avLst/>
          </a:prstGeom>
          <a:solidFill>
            <a:srgbClr val="27AE60">
              <a:alpha val="90000"/>
            </a:srgbClr>
          </a:solidFill>
          <a:ln w="38100">
            <a:solidFill>
              <a:srgbClr val="27AE60"/>
            </a:solidFill>
            <a:prstDash val="solid"/>
          </a:ln>
        </p:spPr>
      </p:sp>
      <p:sp>
        <p:nvSpPr>
          <p:cNvPr id="5" name="Text 3"/>
          <p:cNvSpPr/>
          <p:nvPr/>
        </p:nvSpPr>
        <p:spPr>
          <a:xfrm>
            <a:off x="1280160" y="3291840"/>
            <a:ext cx="7315200" cy="1463040"/>
          </a:xfrm>
          <a:prstGeom prst="rect">
            <a:avLst/>
          </a:prstGeom>
          <a:noFill/>
          <a:ln/>
        </p:spPr>
        <p:txBody>
          <a:bodyPr wrap="square" rtlCol="0" anchor="ctr"/>
          <a:lstStyle/>
          <a:p>
            <a:pPr algn="ctr"/>
            <a:r>
              <a:rPr lang="en-US" sz="3200" b="1" dirty="0">
                <a:solidFill>
                  <a:schemeClr val="bg1"/>
                </a:solidFill>
              </a:rPr>
              <a:t>Precision: </a:t>
            </a:r>
            <a:r>
              <a:rPr lang="en-US" sz="6400" b="1" dirty="0">
                <a:solidFill>
                  <a:schemeClr val="bg1"/>
                </a:solidFill>
              </a:rPr>
              <a:t>100%
</a:t>
            </a:r>
            <a:endParaRPr lang="en-US" sz="3200" dirty="0">
              <a:solidFill>
                <a:schemeClr val="bg1"/>
              </a:solidFill>
            </a:endParaRPr>
          </a:p>
          <a:p>
            <a:pPr algn="ctr"/>
            <a:r>
              <a:rPr lang="en-US" sz="2400" dirty="0">
                <a:solidFill>
                  <a:schemeClr val="bg1"/>
                </a:solidFill>
              </a:rPr>
              <a:t>✓ Zero false positives</a:t>
            </a:r>
            <a:endParaRPr lang="en-US" sz="3200" dirty="0">
              <a:solidFill>
                <a:schemeClr val="bg1"/>
              </a:solidFill>
            </a:endParaRPr>
          </a:p>
        </p:txBody>
      </p:sp>
      <p:sp>
        <p:nvSpPr>
          <p:cNvPr id="6" name="Shape 4"/>
          <p:cNvSpPr/>
          <p:nvPr/>
        </p:nvSpPr>
        <p:spPr>
          <a:xfrm>
            <a:off x="9509760" y="2926080"/>
            <a:ext cx="7863840" cy="2194560"/>
          </a:xfrm>
          <a:prstGeom prst="roundRect">
            <a:avLst/>
          </a:prstGeom>
          <a:solidFill>
            <a:srgbClr val="F39C12">
              <a:alpha val="90000"/>
            </a:srgbClr>
          </a:solidFill>
          <a:ln w="38100">
            <a:solidFill>
              <a:srgbClr val="F39C12"/>
            </a:solidFill>
            <a:prstDash val="solid"/>
          </a:ln>
        </p:spPr>
      </p:sp>
      <p:sp>
        <p:nvSpPr>
          <p:cNvPr id="7" name="Text 5"/>
          <p:cNvSpPr/>
          <p:nvPr/>
        </p:nvSpPr>
        <p:spPr>
          <a:xfrm>
            <a:off x="9875520" y="3291840"/>
            <a:ext cx="7315200" cy="1463040"/>
          </a:xfrm>
          <a:prstGeom prst="rect">
            <a:avLst/>
          </a:prstGeom>
          <a:noFill/>
          <a:ln/>
        </p:spPr>
        <p:txBody>
          <a:bodyPr wrap="square" rtlCol="0" anchor="ctr"/>
          <a:lstStyle/>
          <a:p>
            <a:pPr algn="ctr"/>
            <a:r>
              <a:rPr lang="en-US" sz="3200" b="1" dirty="0">
                <a:solidFill>
                  <a:schemeClr val="bg1"/>
                </a:solidFill>
              </a:rPr>
              <a:t>Recall: </a:t>
            </a:r>
            <a:r>
              <a:rPr lang="en-US" sz="6400" b="1" dirty="0">
                <a:solidFill>
                  <a:schemeClr val="bg1"/>
                </a:solidFill>
              </a:rPr>
              <a:t>84.6%
</a:t>
            </a:r>
            <a:endParaRPr lang="en-US" sz="3200" dirty="0">
              <a:solidFill>
                <a:schemeClr val="bg1"/>
              </a:solidFill>
            </a:endParaRPr>
          </a:p>
          <a:p>
            <a:pPr algn="ctr"/>
            <a:endParaRPr lang="en-US" sz="3200" dirty="0">
              <a:solidFill>
                <a:schemeClr val="bg1"/>
              </a:solidFill>
            </a:endParaRPr>
          </a:p>
        </p:txBody>
      </p:sp>
      <p:sp>
        <p:nvSpPr>
          <p:cNvPr id="8" name="Text 6"/>
          <p:cNvSpPr/>
          <p:nvPr/>
        </p:nvSpPr>
        <p:spPr>
          <a:xfrm>
            <a:off x="914400" y="5669280"/>
            <a:ext cx="16459200" cy="548640"/>
          </a:xfrm>
          <a:prstGeom prst="rect">
            <a:avLst/>
          </a:prstGeom>
          <a:noFill/>
          <a:ln/>
        </p:spPr>
        <p:txBody>
          <a:bodyPr wrap="square" rtlCol="0" anchor="ctr"/>
          <a:lstStyle/>
          <a:p>
            <a:r>
              <a:rPr lang="en-US" sz="3200" b="1" dirty="0">
                <a:solidFill>
                  <a:schemeClr val="bg1"/>
                </a:solidFill>
              </a:rPr>
              <a:t>Trade-off Rationale</a:t>
            </a:r>
            <a:endParaRPr lang="en-US" sz="3200" dirty="0">
              <a:solidFill>
                <a:schemeClr val="bg1"/>
              </a:solidFill>
            </a:endParaRPr>
          </a:p>
        </p:txBody>
      </p:sp>
      <p:sp>
        <p:nvSpPr>
          <p:cNvPr id="9" name="Text 7"/>
          <p:cNvSpPr/>
          <p:nvPr/>
        </p:nvSpPr>
        <p:spPr>
          <a:xfrm>
            <a:off x="914400" y="6400800"/>
            <a:ext cx="16459200" cy="2194560"/>
          </a:xfrm>
          <a:prstGeom prst="rect">
            <a:avLst/>
          </a:prstGeom>
          <a:noFill/>
          <a:ln/>
        </p:spPr>
        <p:txBody>
          <a:bodyPr wrap="square" rtlCol="0" anchor="ctr"/>
          <a:lstStyle/>
          <a:p>
            <a:pPr marL="685800" indent="-685800">
              <a:buSzPct val="100000"/>
              <a:buChar char="•"/>
            </a:pPr>
            <a:r>
              <a:rPr lang="en-US" sz="2600" dirty="0">
                <a:solidFill>
                  <a:schemeClr val="bg1"/>
                </a:solidFill>
              </a:rPr>
              <a:t>• Production IDS prioritizes alert quality over quantity
</a:t>
            </a:r>
          </a:p>
          <a:p>
            <a:pPr marL="685800" indent="-685800">
              <a:buSzPct val="100000"/>
              <a:buChar char="•"/>
            </a:pPr>
            <a:r>
              <a:rPr lang="en-US" sz="2600" dirty="0">
                <a:solidFill>
                  <a:schemeClr val="bg1"/>
                </a:solidFill>
              </a:rPr>
              <a:t>• 746 trustworthy alerts &gt; 1046 alerts with 300 false positives
</a:t>
            </a:r>
          </a:p>
          <a:p>
            <a:pPr marL="685800" indent="-685800">
              <a:buSzPct val="100000"/>
              <a:buChar char="•"/>
            </a:pPr>
            <a:r>
              <a:rPr lang="en-US" sz="2600" dirty="0">
                <a:solidFill>
                  <a:schemeClr val="bg1"/>
                </a:solidFill>
              </a:rPr>
              <a:t>• Maintains analyst trust and prevents alert fatigue</a:t>
            </a:r>
          </a:p>
        </p:txBody>
      </p:sp>
      <p:sp>
        <p:nvSpPr>
          <p:cNvPr id="10" name="Text 8"/>
          <p:cNvSpPr/>
          <p:nvPr/>
        </p:nvSpPr>
        <p:spPr>
          <a:xfrm>
            <a:off x="914400" y="8778240"/>
            <a:ext cx="16459200" cy="548640"/>
          </a:xfrm>
          <a:prstGeom prst="rect">
            <a:avLst/>
          </a:prstGeom>
          <a:noFill/>
          <a:ln/>
        </p:spPr>
        <p:txBody>
          <a:bodyPr wrap="square" rtlCol="0" anchor="ctr"/>
          <a:lstStyle/>
          <a:p>
            <a:r>
              <a:rPr lang="en-US" sz="2800" b="1" dirty="0">
                <a:solidFill>
                  <a:schemeClr val="bg1"/>
                </a:solidFill>
              </a:rPr>
              <a:t>Threshold Tuning Options</a:t>
            </a:r>
            <a:endParaRPr lang="en-US" sz="2800" dirty="0">
              <a:solidFill>
                <a:schemeClr val="bg1"/>
              </a:solidFill>
            </a:endParaRPr>
          </a:p>
        </p:txBody>
      </p:sp>
      <p:sp>
        <p:nvSpPr>
          <p:cNvPr id="11" name="Text 9"/>
          <p:cNvSpPr/>
          <p:nvPr/>
        </p:nvSpPr>
        <p:spPr>
          <a:xfrm>
            <a:off x="1280160" y="9418320"/>
            <a:ext cx="5486400" cy="457200"/>
          </a:xfrm>
          <a:prstGeom prst="rect">
            <a:avLst/>
          </a:prstGeom>
          <a:noFill/>
          <a:ln/>
        </p:spPr>
        <p:txBody>
          <a:bodyPr wrap="square" rtlCol="0" anchor="ctr"/>
          <a:lstStyle/>
          <a:p>
            <a:r>
              <a:rPr lang="en-US" sz="2000" dirty="0">
                <a:solidFill>
                  <a:schemeClr val="bg1"/>
                </a:solidFill>
              </a:rPr>
              <a:t>0.5 (current): Precision 100%, Recall 74.6%</a:t>
            </a:r>
          </a:p>
        </p:txBody>
      </p:sp>
      <p:sp>
        <p:nvSpPr>
          <p:cNvPr id="12" name="Text 10"/>
          <p:cNvSpPr/>
          <p:nvPr/>
        </p:nvSpPr>
        <p:spPr>
          <a:xfrm>
            <a:off x="7132320" y="9418320"/>
            <a:ext cx="5486400" cy="457200"/>
          </a:xfrm>
          <a:prstGeom prst="rect">
            <a:avLst/>
          </a:prstGeom>
          <a:noFill/>
          <a:ln/>
        </p:spPr>
        <p:txBody>
          <a:bodyPr wrap="square" rtlCol="0" anchor="ctr"/>
          <a:lstStyle/>
          <a:p>
            <a:r>
              <a:rPr lang="en-US" sz="2000" dirty="0">
                <a:solidFill>
                  <a:schemeClr val="bg1"/>
                </a:solidFill>
              </a:rPr>
              <a:t>0.4 (estimated): Precision ~97%, Recall ~82%</a:t>
            </a:r>
          </a:p>
        </p:txBody>
      </p:sp>
      <p:sp>
        <p:nvSpPr>
          <p:cNvPr id="13" name="Text 11"/>
          <p:cNvSpPr/>
          <p:nvPr/>
        </p:nvSpPr>
        <p:spPr>
          <a:xfrm>
            <a:off x="12984480" y="9418320"/>
            <a:ext cx="5486400" cy="457200"/>
          </a:xfrm>
          <a:prstGeom prst="rect">
            <a:avLst/>
          </a:prstGeom>
          <a:noFill/>
          <a:ln/>
        </p:spPr>
        <p:txBody>
          <a:bodyPr wrap="square" rtlCol="0" anchor="ctr"/>
          <a:lstStyle/>
          <a:p>
            <a:r>
              <a:rPr lang="en-US" sz="2000" dirty="0">
                <a:solidFill>
                  <a:schemeClr val="bg1"/>
                </a:solidFill>
              </a:rPr>
              <a:t>0.3 (estimated): Precision ~93%, Recall ~88%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07B58BFE-E30C-D99D-4B7E-405901567228}"/>
              </a:ext>
            </a:extLst>
          </p:cNvPr>
          <p:cNvSpPr/>
          <p:nvPr/>
        </p:nvSpPr>
        <p:spPr>
          <a:xfrm flipH="1">
            <a:off x="-32084" y="26068"/>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t="-5555" b="-5555"/>
            </a:stretch>
          </a:blipFill>
        </p:spPr>
      </p:sp>
      <p:sp>
        <p:nvSpPr>
          <p:cNvPr id="2" name="Text 0"/>
          <p:cNvSpPr/>
          <p:nvPr/>
        </p:nvSpPr>
        <p:spPr>
          <a:xfrm>
            <a:off x="914400" y="731520"/>
            <a:ext cx="16459200" cy="914400"/>
          </a:xfrm>
          <a:prstGeom prst="rect">
            <a:avLst/>
          </a:prstGeom>
          <a:noFill/>
          <a:ln/>
        </p:spPr>
        <p:txBody>
          <a:bodyPr wrap="square" rtlCol="0" anchor="ctr"/>
          <a:lstStyle/>
          <a:p>
            <a:r>
              <a:rPr lang="en-US" sz="6400" b="1" dirty="0">
                <a:solidFill>
                  <a:srgbClr val="FFFFFF"/>
                </a:solidFill>
              </a:rPr>
              <a:t>Tamper-Evident Blockchain Logging</a:t>
            </a:r>
            <a:endParaRPr lang="en-US" sz="6400" dirty="0"/>
          </a:p>
        </p:txBody>
      </p:sp>
      <p:sp>
        <p:nvSpPr>
          <p:cNvPr id="3" name="Shape 1"/>
          <p:cNvSpPr/>
          <p:nvPr/>
        </p:nvSpPr>
        <p:spPr>
          <a:xfrm>
            <a:off x="914400" y="2194560"/>
            <a:ext cx="7863840" cy="7597140"/>
          </a:xfrm>
          <a:prstGeom prst="roundRect">
            <a:avLst/>
          </a:prstGeom>
          <a:solidFill>
            <a:srgbClr val="141B44"/>
          </a:solidFill>
          <a:ln w="25400">
            <a:solidFill>
              <a:srgbClr val="028090"/>
            </a:solidFill>
            <a:prstDash val="solid"/>
          </a:ln>
        </p:spPr>
      </p:sp>
      <p:sp>
        <p:nvSpPr>
          <p:cNvPr id="4" name="Text 2"/>
          <p:cNvSpPr/>
          <p:nvPr/>
        </p:nvSpPr>
        <p:spPr>
          <a:xfrm>
            <a:off x="1280160" y="2560320"/>
            <a:ext cx="7315200" cy="548640"/>
          </a:xfrm>
          <a:prstGeom prst="rect">
            <a:avLst/>
          </a:prstGeom>
          <a:noFill/>
          <a:ln/>
        </p:spPr>
        <p:txBody>
          <a:bodyPr wrap="square" rtlCol="0" anchor="ctr"/>
          <a:lstStyle/>
          <a:p>
            <a:r>
              <a:rPr lang="en-US" sz="2800" b="1" dirty="0">
                <a:solidFill>
                  <a:srgbClr val="02C39A"/>
                </a:solidFill>
              </a:rPr>
              <a:t>Block Structure</a:t>
            </a:r>
            <a:endParaRPr lang="en-US" sz="2800" dirty="0"/>
          </a:p>
        </p:txBody>
      </p:sp>
      <p:sp>
        <p:nvSpPr>
          <p:cNvPr id="5" name="Text 3"/>
          <p:cNvSpPr/>
          <p:nvPr/>
        </p:nvSpPr>
        <p:spPr>
          <a:xfrm>
            <a:off x="1280160" y="3291840"/>
            <a:ext cx="7315200" cy="6263640"/>
          </a:xfrm>
          <a:prstGeom prst="rect">
            <a:avLst/>
          </a:prstGeom>
          <a:noFill/>
          <a:ln/>
        </p:spPr>
        <p:txBody>
          <a:bodyPr wrap="square" rtlCol="0" anchor="ctr"/>
          <a:lstStyle/>
          <a:p>
            <a:r>
              <a:rPr lang="en-US" sz="2400" dirty="0">
                <a:solidFill>
                  <a:srgbClr val="CADCFC"/>
                </a:solidFill>
                <a:latin typeface="Consolas" pitchFamily="34" charset="0"/>
                <a:ea typeface="Consolas" pitchFamily="34" charset="-122"/>
                <a:cs typeface="Consolas" pitchFamily="34" charset="-120"/>
              </a:rPr>
              <a:t>{
</a:t>
            </a:r>
            <a:endParaRPr lang="en-US" sz="2400" dirty="0"/>
          </a:p>
          <a:p>
            <a:r>
              <a:rPr lang="en-US" sz="2400" dirty="0">
                <a:solidFill>
                  <a:srgbClr val="FFFFFF"/>
                </a:solidFill>
                <a:latin typeface="Consolas" pitchFamily="34" charset="0"/>
                <a:ea typeface="Consolas" pitchFamily="34" charset="-122"/>
                <a:cs typeface="Consolas" pitchFamily="34" charset="-120"/>
              </a:rPr>
              <a:t>  "index": 42,</a:t>
            </a:r>
            <a:endParaRPr lang="en-US" sz="2400" dirty="0"/>
          </a:p>
          <a:p>
            <a:r>
              <a:rPr lang="en-US" sz="2400" dirty="0">
                <a:solidFill>
                  <a:srgbClr val="FFFFFF"/>
                </a:solidFill>
                <a:latin typeface="Consolas" pitchFamily="34" charset="0"/>
                <a:ea typeface="Consolas" pitchFamily="34" charset="-122"/>
                <a:cs typeface="Consolas" pitchFamily="34" charset="-120"/>
              </a:rPr>
              <a:t>  "timestamp": 1713187200,</a:t>
            </a:r>
            <a:endParaRPr lang="en-US" sz="2400" dirty="0"/>
          </a:p>
          <a:p>
            <a:r>
              <a:rPr lang="en-US" sz="2400" dirty="0">
                <a:solidFill>
                  <a:srgbClr val="FFFFFF"/>
                </a:solidFill>
                <a:latin typeface="Consolas" pitchFamily="34" charset="0"/>
                <a:ea typeface="Consolas" pitchFamily="34" charset="-122"/>
                <a:cs typeface="Consolas" pitchFamily="34" charset="-120"/>
              </a:rPr>
              <a:t>  "prev_hash": "a3f9d2...",</a:t>
            </a:r>
            <a:endParaRPr lang="en-US" sz="2400" dirty="0"/>
          </a:p>
          <a:p>
            <a:r>
              <a:rPr lang="en-US" sz="2400" dirty="0">
                <a:solidFill>
                  <a:srgbClr val="FFFFFF"/>
                </a:solidFill>
                <a:latin typeface="Consolas" pitchFamily="34" charset="0"/>
                <a:ea typeface="Consolas" pitchFamily="34" charset="-122"/>
                <a:cs typeface="Consolas" pitchFamily="34" charset="-120"/>
              </a:rPr>
              <a:t>  "data": {
</a:t>
            </a:r>
            <a:endParaRPr lang="en-US" sz="2400" dirty="0"/>
          </a:p>
          <a:p>
            <a:r>
              <a:rPr lang="en-US" sz="2400" dirty="0">
                <a:solidFill>
                  <a:srgbClr val="02C39A"/>
                </a:solidFill>
                <a:latin typeface="Consolas" pitchFamily="34" charset="0"/>
                <a:ea typeface="Consolas" pitchFamily="34" charset="-122"/>
                <a:cs typeface="Consolas" pitchFamily="34" charset="-120"/>
              </a:rPr>
              <a:t>    "attack_type": "Recon",
</a:t>
            </a:r>
            <a:endParaRPr lang="en-US" sz="2400" dirty="0"/>
          </a:p>
          <a:p>
            <a:r>
              <a:rPr lang="en-US" sz="2400" dirty="0">
                <a:solidFill>
                  <a:srgbClr val="02C39A"/>
                </a:solidFill>
                <a:latin typeface="Consolas" pitchFamily="34" charset="0"/>
                <a:ea typeface="Consolas" pitchFamily="34" charset="-122"/>
                <a:cs typeface="Consolas" pitchFamily="34" charset="-120"/>
              </a:rPr>
              <a:t>    "confidence": 0.934,
</a:t>
            </a:r>
            <a:endParaRPr lang="en-US" sz="2400" dirty="0"/>
          </a:p>
          <a:p>
            <a:r>
              <a:rPr lang="en-US" sz="2400" dirty="0">
                <a:solidFill>
                  <a:srgbClr val="02C39A"/>
                </a:solidFill>
                <a:latin typeface="Consolas" pitchFamily="34" charset="0"/>
                <a:ea typeface="Consolas" pitchFamily="34" charset="-122"/>
                <a:cs typeface="Consolas" pitchFamily="34" charset="-120"/>
              </a:rPr>
              <a:t>    "src_ip": "172.20.0.4"
</a:t>
            </a:r>
            <a:endParaRPr lang="en-US" sz="2400" dirty="0"/>
          </a:p>
          <a:p>
            <a:r>
              <a:rPr lang="en-US" sz="2400" dirty="0">
                <a:solidFill>
                  <a:srgbClr val="FFFFFF"/>
                </a:solidFill>
                <a:latin typeface="Consolas" pitchFamily="34" charset="0"/>
                <a:ea typeface="Consolas" pitchFamily="34" charset="-122"/>
                <a:cs typeface="Consolas" pitchFamily="34" charset="-120"/>
              </a:rPr>
              <a:t>  },</a:t>
            </a:r>
            <a:endParaRPr lang="en-US" sz="2400" dirty="0"/>
          </a:p>
          <a:p>
            <a:r>
              <a:rPr lang="en-US" sz="2400" dirty="0">
                <a:solidFill>
                  <a:srgbClr val="FFFFFF"/>
                </a:solidFill>
                <a:latin typeface="Consolas" pitchFamily="34" charset="0"/>
                <a:ea typeface="Consolas" pitchFamily="34" charset="-122"/>
                <a:cs typeface="Consolas" pitchFamily="34" charset="-120"/>
              </a:rPr>
              <a:t>  "hash": "7c4e1b..."
</a:t>
            </a:r>
            <a:r>
              <a:rPr lang="en-US" sz="2400" dirty="0">
                <a:solidFill>
                  <a:srgbClr val="CADCFC"/>
                </a:solidFill>
                <a:latin typeface="Consolas" pitchFamily="34" charset="0"/>
                <a:ea typeface="Consolas" pitchFamily="34" charset="-122"/>
                <a:cs typeface="Consolas" pitchFamily="34" charset="-120"/>
              </a:rPr>
              <a:t>}</a:t>
            </a:r>
            <a:endParaRPr lang="en-US" sz="2400" dirty="0"/>
          </a:p>
        </p:txBody>
      </p:sp>
      <p:sp>
        <p:nvSpPr>
          <p:cNvPr id="6" name="Text 4"/>
          <p:cNvSpPr/>
          <p:nvPr/>
        </p:nvSpPr>
        <p:spPr>
          <a:xfrm>
            <a:off x="9509760" y="2194560"/>
            <a:ext cx="7863840" cy="7360920"/>
          </a:xfrm>
          <a:prstGeom prst="rect">
            <a:avLst/>
          </a:prstGeom>
          <a:noFill/>
          <a:ln/>
        </p:spPr>
        <p:txBody>
          <a:bodyPr wrap="square" rtlCol="0" anchor="ctr"/>
          <a:lstStyle/>
          <a:p>
            <a:r>
              <a:rPr lang="en-US" sz="3200" b="1" dirty="0">
                <a:solidFill>
                  <a:srgbClr val="CADCFC"/>
                </a:solidFill>
              </a:rPr>
              <a:t>How It Works:</a:t>
            </a:r>
            <a:r>
              <a:rPr lang="en-US" sz="3200" b="1">
                <a:solidFill>
                  <a:srgbClr val="CADCFC"/>
                </a:solidFill>
              </a:rPr>
              <a:t>
</a:t>
            </a:r>
            <a:endParaRPr lang="en-US" sz="3200" dirty="0"/>
          </a:p>
          <a:p>
            <a:r>
              <a:rPr lang="en-US" sz="2800" dirty="0">
                <a:solidFill>
                  <a:srgbClr val="FFFFFF"/>
                </a:solidFill>
              </a:rPr>
              <a:t>1. Detection Event Occurs
   Model flags suspicious sequence
</a:t>
            </a:r>
            <a:endParaRPr lang="en-US" sz="3200" dirty="0"/>
          </a:p>
          <a:p>
            <a:r>
              <a:rPr lang="en-US" sz="2800" dirty="0">
                <a:solidFill>
                  <a:srgbClr val="FFFFFF"/>
                </a:solidFill>
              </a:rPr>
              <a:t>2. Create Block</a:t>
            </a:r>
            <a:endParaRPr lang="en-US" sz="3200" dirty="0"/>
          </a:p>
          <a:p>
            <a:r>
              <a:rPr lang="en-US" sz="2800" dirty="0">
                <a:solidFill>
                  <a:srgbClr val="FFFFFF"/>
                </a:solidFill>
              </a:rPr>
              <a:t>   Package event data + metadata
</a:t>
            </a:r>
            <a:endParaRPr lang="en-US" sz="3200" dirty="0"/>
          </a:p>
          <a:p>
            <a:r>
              <a:rPr lang="en-US" sz="2800" dirty="0">
                <a:solidFill>
                  <a:srgbClr val="FFFFFF"/>
                </a:solidFill>
              </a:rPr>
              <a:t>3. Compute Hash</a:t>
            </a:r>
            <a:endParaRPr lang="en-US" sz="3200" dirty="0"/>
          </a:p>
          <a:p>
            <a:r>
              <a:rPr lang="en-US" sz="2800" dirty="0">
                <a:solidFill>
                  <a:srgbClr val="FFFFFF"/>
                </a:solidFill>
              </a:rPr>
              <a:t>   SHA256(index + time + prev + data)
</a:t>
            </a:r>
            <a:endParaRPr lang="en-US" sz="3200" dirty="0"/>
          </a:p>
          <a:p>
            <a:r>
              <a:rPr lang="en-US" sz="2800" dirty="0">
                <a:solidFill>
                  <a:srgbClr val="FFFFFF"/>
                </a:solidFill>
              </a:rPr>
              <a:t>4. Append to Chain</a:t>
            </a:r>
            <a:endParaRPr lang="en-US" sz="3200" dirty="0"/>
          </a:p>
          <a:p>
            <a:r>
              <a:rPr lang="en-US" sz="2800" dirty="0">
                <a:solidFill>
                  <a:srgbClr val="FFFFFF"/>
                </a:solidFill>
              </a:rPr>
              <a:t>   Atomic write to </a:t>
            </a:r>
            <a:r>
              <a:rPr lang="en-US" sz="2800" dirty="0" err="1">
                <a:solidFill>
                  <a:srgbClr val="FFFFFF"/>
                </a:solidFill>
              </a:rPr>
              <a:t>blockchain.json</a:t>
            </a:r>
            <a:r>
              <a:rPr lang="en-US" sz="2800" dirty="0">
                <a:solidFill>
                  <a:srgbClr val="FFFFFF"/>
                </a:solidFill>
              </a:rPr>
              <a:t>
</a:t>
            </a:r>
            <a:endParaRPr lang="en-US" sz="3200" dirty="0"/>
          </a:p>
          <a:p>
            <a:r>
              <a:rPr lang="en-US" sz="2800" b="1" dirty="0">
                <a:solidFill>
                  <a:srgbClr val="02C39A"/>
                </a:solidFill>
              </a:rPr>
              <a:t>5. Tamper Evidence</a:t>
            </a:r>
            <a:endParaRPr lang="en-US" sz="3200" dirty="0"/>
          </a:p>
          <a:p>
            <a:r>
              <a:rPr lang="en-US" sz="2800" dirty="0">
                <a:solidFill>
                  <a:srgbClr val="02C39A"/>
                </a:solidFill>
              </a:rPr>
              <a:t>   Changing any field breaks all subsequent hashes</a:t>
            </a:r>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96978-BABC-8FEB-F910-E121AA7AC11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AEB7F0F-331F-DABF-B2A3-F77E13C9EDCE}"/>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5555" b="-5555"/>
            </a:stretch>
          </a:blipFill>
        </p:spPr>
      </p:sp>
      <p:grpSp>
        <p:nvGrpSpPr>
          <p:cNvPr id="3" name="Group 3">
            <a:extLst>
              <a:ext uri="{FF2B5EF4-FFF2-40B4-BE49-F238E27FC236}">
                <a16:creationId xmlns:a16="http://schemas.microsoft.com/office/drawing/2014/main" id="{F6D41BD9-4AB1-BE90-B2F2-0CC63AD26A2E}"/>
              </a:ext>
            </a:extLst>
          </p:cNvPr>
          <p:cNvGrpSpPr/>
          <p:nvPr/>
        </p:nvGrpSpPr>
        <p:grpSpPr>
          <a:xfrm>
            <a:off x="862708" y="795954"/>
            <a:ext cx="331984" cy="202810"/>
            <a:chOff x="0" y="0"/>
            <a:chExt cx="442646" cy="270414"/>
          </a:xfrm>
        </p:grpSpPr>
        <p:grpSp>
          <p:nvGrpSpPr>
            <p:cNvPr id="4" name="Group 4">
              <a:extLst>
                <a:ext uri="{FF2B5EF4-FFF2-40B4-BE49-F238E27FC236}">
                  <a16:creationId xmlns:a16="http://schemas.microsoft.com/office/drawing/2014/main" id="{E0CAD6D2-7676-62AA-C7E6-3007B88CBE02}"/>
                </a:ext>
              </a:extLst>
            </p:cNvPr>
            <p:cNvGrpSpPr/>
            <p:nvPr/>
          </p:nvGrpSpPr>
          <p:grpSpPr>
            <a:xfrm>
              <a:off x="0" y="0"/>
              <a:ext cx="442646" cy="63500"/>
              <a:chOff x="0" y="0"/>
              <a:chExt cx="87436" cy="12543"/>
            </a:xfrm>
          </p:grpSpPr>
          <p:sp>
            <p:nvSpPr>
              <p:cNvPr id="5" name="Freeform 5">
                <a:extLst>
                  <a:ext uri="{FF2B5EF4-FFF2-40B4-BE49-F238E27FC236}">
                    <a16:creationId xmlns:a16="http://schemas.microsoft.com/office/drawing/2014/main" id="{ABEA8570-0D8A-3B52-67B0-F20442F7FA3C}"/>
                  </a:ext>
                </a:extLst>
              </p:cNvPr>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6" name="TextBox 6">
                <a:extLst>
                  <a:ext uri="{FF2B5EF4-FFF2-40B4-BE49-F238E27FC236}">
                    <a16:creationId xmlns:a16="http://schemas.microsoft.com/office/drawing/2014/main" id="{9DE82215-71C0-D3A1-72FC-06CC7DDB7EE4}"/>
                  </a:ext>
                </a:extLst>
              </p:cNvPr>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7" name="Group 7">
              <a:extLst>
                <a:ext uri="{FF2B5EF4-FFF2-40B4-BE49-F238E27FC236}">
                  <a16:creationId xmlns:a16="http://schemas.microsoft.com/office/drawing/2014/main" id="{9251BAEC-A2B0-9E3F-363A-ACB461D0624F}"/>
                </a:ext>
              </a:extLst>
            </p:cNvPr>
            <p:cNvGrpSpPr/>
            <p:nvPr/>
          </p:nvGrpSpPr>
          <p:grpSpPr>
            <a:xfrm>
              <a:off x="0" y="105314"/>
              <a:ext cx="442646" cy="63500"/>
              <a:chOff x="0" y="0"/>
              <a:chExt cx="87436" cy="12543"/>
            </a:xfrm>
          </p:grpSpPr>
          <p:sp>
            <p:nvSpPr>
              <p:cNvPr id="8" name="Freeform 8">
                <a:extLst>
                  <a:ext uri="{FF2B5EF4-FFF2-40B4-BE49-F238E27FC236}">
                    <a16:creationId xmlns:a16="http://schemas.microsoft.com/office/drawing/2014/main" id="{D1FDA4BF-BA47-D48A-8FF7-8CDD5F7066BE}"/>
                  </a:ext>
                </a:extLst>
              </p:cNvPr>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9" name="TextBox 9">
                <a:extLst>
                  <a:ext uri="{FF2B5EF4-FFF2-40B4-BE49-F238E27FC236}">
                    <a16:creationId xmlns:a16="http://schemas.microsoft.com/office/drawing/2014/main" id="{B121D228-8BFC-2730-1AE0-B760CC971FFF}"/>
                  </a:ext>
                </a:extLst>
              </p:cNvPr>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10" name="Group 10">
              <a:extLst>
                <a:ext uri="{FF2B5EF4-FFF2-40B4-BE49-F238E27FC236}">
                  <a16:creationId xmlns:a16="http://schemas.microsoft.com/office/drawing/2014/main" id="{A65A287F-1183-30F0-E608-F57D9485C3DD}"/>
                </a:ext>
              </a:extLst>
            </p:cNvPr>
            <p:cNvGrpSpPr/>
            <p:nvPr/>
          </p:nvGrpSpPr>
          <p:grpSpPr>
            <a:xfrm>
              <a:off x="0" y="206914"/>
              <a:ext cx="442646" cy="63500"/>
              <a:chOff x="0" y="0"/>
              <a:chExt cx="87436" cy="12543"/>
            </a:xfrm>
          </p:grpSpPr>
          <p:sp>
            <p:nvSpPr>
              <p:cNvPr id="11" name="Freeform 11">
                <a:extLst>
                  <a:ext uri="{FF2B5EF4-FFF2-40B4-BE49-F238E27FC236}">
                    <a16:creationId xmlns:a16="http://schemas.microsoft.com/office/drawing/2014/main" id="{36B4EC8C-B359-3A5D-8FCE-B4397BD814C8}"/>
                  </a:ext>
                </a:extLst>
              </p:cNvPr>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12" name="TextBox 12">
                <a:extLst>
                  <a:ext uri="{FF2B5EF4-FFF2-40B4-BE49-F238E27FC236}">
                    <a16:creationId xmlns:a16="http://schemas.microsoft.com/office/drawing/2014/main" id="{D95524B3-3D58-6DC6-ED94-AFE577E4A4F2}"/>
                  </a:ext>
                </a:extLst>
              </p:cNvPr>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sp>
        <p:nvSpPr>
          <p:cNvPr id="13" name="Freeform 13">
            <a:extLst>
              <a:ext uri="{FF2B5EF4-FFF2-40B4-BE49-F238E27FC236}">
                <a16:creationId xmlns:a16="http://schemas.microsoft.com/office/drawing/2014/main" id="{0BC9A87B-542E-C03C-2D3A-B6C860D27AE3}"/>
              </a:ext>
            </a:extLst>
          </p:cNvPr>
          <p:cNvSpPr/>
          <p:nvPr/>
        </p:nvSpPr>
        <p:spPr>
          <a:xfrm>
            <a:off x="16927006" y="746082"/>
            <a:ext cx="332294" cy="302554"/>
          </a:xfrm>
          <a:custGeom>
            <a:avLst/>
            <a:gdLst/>
            <a:ahLst/>
            <a:cxnLst/>
            <a:rect l="l" t="t" r="r" b="b"/>
            <a:pathLst>
              <a:path w="332294" h="302554">
                <a:moveTo>
                  <a:pt x="0" y="0"/>
                </a:moveTo>
                <a:lnTo>
                  <a:pt x="332294" y="0"/>
                </a:lnTo>
                <a:lnTo>
                  <a:pt x="332294" y="302554"/>
                </a:lnTo>
                <a:lnTo>
                  <a:pt x="0" y="302554"/>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4" name="Group 14">
            <a:extLst>
              <a:ext uri="{FF2B5EF4-FFF2-40B4-BE49-F238E27FC236}">
                <a16:creationId xmlns:a16="http://schemas.microsoft.com/office/drawing/2014/main" id="{C2A62A72-DAA3-8381-07EC-6693146EB2B3}"/>
              </a:ext>
            </a:extLst>
          </p:cNvPr>
          <p:cNvGrpSpPr/>
          <p:nvPr/>
        </p:nvGrpSpPr>
        <p:grpSpPr>
          <a:xfrm>
            <a:off x="-620782" y="4259504"/>
            <a:ext cx="20465418" cy="5254127"/>
            <a:chOff x="0" y="0"/>
            <a:chExt cx="5390069" cy="1383803"/>
          </a:xfrm>
        </p:grpSpPr>
        <p:sp>
          <p:nvSpPr>
            <p:cNvPr id="15" name="Freeform 15">
              <a:extLst>
                <a:ext uri="{FF2B5EF4-FFF2-40B4-BE49-F238E27FC236}">
                  <a16:creationId xmlns:a16="http://schemas.microsoft.com/office/drawing/2014/main" id="{41D36F27-809E-5489-763A-1AAFE8D35B4C}"/>
                </a:ext>
              </a:extLst>
            </p:cNvPr>
            <p:cNvSpPr/>
            <p:nvPr/>
          </p:nvSpPr>
          <p:spPr>
            <a:xfrm>
              <a:off x="0" y="0"/>
              <a:ext cx="5390069" cy="1383803"/>
            </a:xfrm>
            <a:custGeom>
              <a:avLst/>
              <a:gdLst/>
              <a:ahLst/>
              <a:cxnLst/>
              <a:rect l="l" t="t" r="r" b="b"/>
              <a:pathLst>
                <a:path w="5390069" h="1383803">
                  <a:moveTo>
                    <a:pt x="0" y="0"/>
                  </a:moveTo>
                  <a:lnTo>
                    <a:pt x="5390069" y="0"/>
                  </a:lnTo>
                  <a:lnTo>
                    <a:pt x="5390069" y="1383803"/>
                  </a:lnTo>
                  <a:lnTo>
                    <a:pt x="0" y="1383803"/>
                  </a:lnTo>
                  <a:close/>
                </a:path>
              </a:pathLst>
            </a:custGeom>
            <a:gradFill rotWithShape="1">
              <a:gsLst>
                <a:gs pos="0">
                  <a:srgbClr val="071121">
                    <a:alpha val="31000"/>
                  </a:srgbClr>
                </a:gs>
                <a:gs pos="50000">
                  <a:srgbClr val="4F5661">
                    <a:alpha val="24335"/>
                  </a:srgbClr>
                </a:gs>
                <a:gs pos="100000">
                  <a:srgbClr val="060F1F">
                    <a:alpha val="0"/>
                  </a:srgbClr>
                </a:gs>
              </a:gsLst>
              <a:lin ang="0"/>
            </a:gradFill>
          </p:spPr>
        </p:sp>
        <p:sp>
          <p:nvSpPr>
            <p:cNvPr id="16" name="TextBox 16">
              <a:extLst>
                <a:ext uri="{FF2B5EF4-FFF2-40B4-BE49-F238E27FC236}">
                  <a16:creationId xmlns:a16="http://schemas.microsoft.com/office/drawing/2014/main" id="{FE3F0230-455B-41B6-E8CC-A0BDFCC2ACC9}"/>
                </a:ext>
              </a:extLst>
            </p:cNvPr>
            <p:cNvSpPr txBox="1"/>
            <p:nvPr/>
          </p:nvSpPr>
          <p:spPr>
            <a:xfrm>
              <a:off x="0" y="0"/>
              <a:ext cx="5390069" cy="1383803"/>
            </a:xfrm>
            <a:prstGeom prst="rect">
              <a:avLst/>
            </a:prstGeom>
          </p:spPr>
          <p:txBody>
            <a:bodyPr lIns="50800" tIns="50800" rIns="50800" bIns="50800" rtlCol="0" anchor="ctr"/>
            <a:lstStyle/>
            <a:p>
              <a:pPr algn="ctr">
                <a:lnSpc>
                  <a:spcPts val="1917"/>
                </a:lnSpc>
              </a:pPr>
              <a:endParaRPr/>
            </a:p>
          </p:txBody>
        </p:sp>
      </p:grpSp>
      <p:grpSp>
        <p:nvGrpSpPr>
          <p:cNvPr id="17" name="Group 17">
            <a:extLst>
              <a:ext uri="{FF2B5EF4-FFF2-40B4-BE49-F238E27FC236}">
                <a16:creationId xmlns:a16="http://schemas.microsoft.com/office/drawing/2014/main" id="{E61041CA-05BE-D9F6-DA6C-2AB3B034A9A4}"/>
              </a:ext>
            </a:extLst>
          </p:cNvPr>
          <p:cNvGrpSpPr/>
          <p:nvPr/>
        </p:nvGrpSpPr>
        <p:grpSpPr>
          <a:xfrm>
            <a:off x="1028700" y="5058375"/>
            <a:ext cx="392527" cy="392527"/>
            <a:chOff x="0" y="0"/>
            <a:chExt cx="103382" cy="103382"/>
          </a:xfrm>
        </p:grpSpPr>
        <p:sp>
          <p:nvSpPr>
            <p:cNvPr id="18" name="Freeform 18">
              <a:extLst>
                <a:ext uri="{FF2B5EF4-FFF2-40B4-BE49-F238E27FC236}">
                  <a16:creationId xmlns:a16="http://schemas.microsoft.com/office/drawing/2014/main" id="{1A1E3B33-7D19-B59E-A2C7-C1170BC52D0B}"/>
                </a:ext>
              </a:extLst>
            </p:cNvPr>
            <p:cNvSpPr/>
            <p:nvPr/>
          </p:nvSpPr>
          <p:spPr>
            <a:xfrm>
              <a:off x="0" y="0"/>
              <a:ext cx="103382" cy="103382"/>
            </a:xfrm>
            <a:custGeom>
              <a:avLst/>
              <a:gdLst/>
              <a:ahLst/>
              <a:cxnLst/>
              <a:rect l="l" t="t" r="r" b="b"/>
              <a:pathLst>
                <a:path w="103382" h="103382">
                  <a:moveTo>
                    <a:pt x="0" y="0"/>
                  </a:moveTo>
                  <a:lnTo>
                    <a:pt x="103382" y="0"/>
                  </a:lnTo>
                  <a:lnTo>
                    <a:pt x="103382" y="103382"/>
                  </a:lnTo>
                  <a:lnTo>
                    <a:pt x="0" y="103382"/>
                  </a:lnTo>
                  <a:close/>
                </a:path>
              </a:pathLst>
            </a:custGeom>
            <a:gradFill rotWithShape="1">
              <a:gsLst>
                <a:gs pos="0">
                  <a:srgbClr val="FFFFFF">
                    <a:alpha val="63000"/>
                  </a:srgbClr>
                </a:gs>
                <a:gs pos="100000">
                  <a:srgbClr val="FFC1C1">
                    <a:alpha val="1575"/>
                  </a:srgbClr>
                </a:gs>
              </a:gsLst>
              <a:lin ang="0"/>
            </a:gradFill>
          </p:spPr>
        </p:sp>
        <p:sp>
          <p:nvSpPr>
            <p:cNvPr id="19" name="TextBox 19">
              <a:extLst>
                <a:ext uri="{FF2B5EF4-FFF2-40B4-BE49-F238E27FC236}">
                  <a16:creationId xmlns:a16="http://schemas.microsoft.com/office/drawing/2014/main" id="{83863908-2576-CFA2-7742-ABB4C9F63D99}"/>
                </a:ext>
              </a:extLst>
            </p:cNvPr>
            <p:cNvSpPr txBox="1"/>
            <p:nvPr/>
          </p:nvSpPr>
          <p:spPr>
            <a:xfrm>
              <a:off x="0" y="0"/>
              <a:ext cx="103382" cy="103382"/>
            </a:xfrm>
            <a:prstGeom prst="rect">
              <a:avLst/>
            </a:prstGeom>
          </p:spPr>
          <p:txBody>
            <a:bodyPr lIns="50800" tIns="50800" rIns="50800" bIns="50800" rtlCol="0" anchor="ctr"/>
            <a:lstStyle/>
            <a:p>
              <a:pPr algn="ctr">
                <a:lnSpc>
                  <a:spcPts val="1917"/>
                </a:lnSpc>
              </a:pPr>
              <a:endParaRPr/>
            </a:p>
          </p:txBody>
        </p:sp>
      </p:grpSp>
      <p:sp>
        <p:nvSpPr>
          <p:cNvPr id="20" name="TextBox 20">
            <a:extLst>
              <a:ext uri="{FF2B5EF4-FFF2-40B4-BE49-F238E27FC236}">
                <a16:creationId xmlns:a16="http://schemas.microsoft.com/office/drawing/2014/main" id="{B402D043-06B4-E4E7-3FCC-AD004F27AFE6}"/>
              </a:ext>
            </a:extLst>
          </p:cNvPr>
          <p:cNvSpPr txBox="1"/>
          <p:nvPr/>
        </p:nvSpPr>
        <p:spPr>
          <a:xfrm>
            <a:off x="1391939" y="859732"/>
            <a:ext cx="528063" cy="139032"/>
          </a:xfrm>
          <a:prstGeom prst="rect">
            <a:avLst/>
          </a:prstGeom>
        </p:spPr>
        <p:txBody>
          <a:bodyPr lIns="0" tIns="0" rIns="0" bIns="0" rtlCol="0" anchor="t">
            <a:spAutoFit/>
          </a:bodyPr>
          <a:lstStyle/>
          <a:p>
            <a:pPr algn="l">
              <a:lnSpc>
                <a:spcPts val="1077"/>
              </a:lnSpc>
              <a:spcBef>
                <a:spcPct val="0"/>
              </a:spcBef>
            </a:pPr>
            <a:r>
              <a:rPr lang="en-US" sz="997">
                <a:solidFill>
                  <a:srgbClr val="FFFFFF"/>
                </a:solidFill>
                <a:latin typeface="Poppins Light"/>
                <a:ea typeface="Poppins Light"/>
                <a:cs typeface="Poppins Light"/>
                <a:sym typeface="Poppins Light"/>
              </a:rPr>
              <a:t>PAGE 9</a:t>
            </a:r>
          </a:p>
        </p:txBody>
      </p:sp>
      <p:sp>
        <p:nvSpPr>
          <p:cNvPr id="21" name="TextBox 21">
            <a:extLst>
              <a:ext uri="{FF2B5EF4-FFF2-40B4-BE49-F238E27FC236}">
                <a16:creationId xmlns:a16="http://schemas.microsoft.com/office/drawing/2014/main" id="{9C9F0D97-76FF-F795-0CCD-C4428875F1D6}"/>
              </a:ext>
            </a:extLst>
          </p:cNvPr>
          <p:cNvSpPr txBox="1"/>
          <p:nvPr/>
        </p:nvSpPr>
        <p:spPr>
          <a:xfrm>
            <a:off x="2686352" y="1341625"/>
            <a:ext cx="12468413" cy="879863"/>
          </a:xfrm>
          <a:prstGeom prst="rect">
            <a:avLst/>
          </a:prstGeom>
        </p:spPr>
        <p:txBody>
          <a:bodyPr lIns="0" tIns="0" rIns="0" bIns="0" rtlCol="0" anchor="t">
            <a:spAutoFit/>
          </a:bodyPr>
          <a:lstStyle/>
          <a:p>
            <a:pPr algn="ctr">
              <a:lnSpc>
                <a:spcPts val="6753"/>
              </a:lnSpc>
              <a:spcBef>
                <a:spcPct val="0"/>
              </a:spcBef>
            </a:pPr>
            <a:r>
              <a:rPr lang="en-US" sz="6252" spc="787">
                <a:solidFill>
                  <a:srgbClr val="FFFFFF"/>
                </a:solidFill>
                <a:latin typeface="HK Modular"/>
                <a:ea typeface="HK Modular"/>
                <a:cs typeface="HK Modular"/>
                <a:sym typeface="HK Modular"/>
              </a:rPr>
              <a:t>Research papers</a:t>
            </a:r>
          </a:p>
        </p:txBody>
      </p:sp>
      <p:sp>
        <p:nvSpPr>
          <p:cNvPr id="22" name="TextBox 22">
            <a:extLst>
              <a:ext uri="{FF2B5EF4-FFF2-40B4-BE49-F238E27FC236}">
                <a16:creationId xmlns:a16="http://schemas.microsoft.com/office/drawing/2014/main" id="{62BF0B12-260E-299D-F7F1-962179E0633A}"/>
              </a:ext>
            </a:extLst>
          </p:cNvPr>
          <p:cNvSpPr txBox="1"/>
          <p:nvPr/>
        </p:nvSpPr>
        <p:spPr>
          <a:xfrm>
            <a:off x="1655971" y="4911764"/>
            <a:ext cx="4923524" cy="1028647"/>
          </a:xfrm>
          <a:prstGeom prst="rect">
            <a:avLst/>
          </a:prstGeom>
        </p:spPr>
        <p:txBody>
          <a:bodyPr lIns="0" tIns="0" rIns="0" bIns="0" rtlCol="0" anchor="t">
            <a:spAutoFit/>
          </a:bodyPr>
          <a:lstStyle/>
          <a:p>
            <a:pPr algn="l">
              <a:lnSpc>
                <a:spcPts val="2696"/>
              </a:lnSpc>
            </a:pPr>
            <a:r>
              <a:rPr lang="en-US" sz="2496" b="1">
                <a:solidFill>
                  <a:srgbClr val="FFFFFF"/>
                </a:solidFill>
                <a:latin typeface="Poppins Semi-Bold"/>
                <a:ea typeface="Poppins Semi-Bold"/>
                <a:cs typeface="Poppins Semi-Bold"/>
                <a:sym typeface="Poppins Semi-Bold"/>
              </a:rPr>
              <a:t>Bi-LSTM for IoT Network Traffic Analysis</a:t>
            </a:r>
          </a:p>
          <a:p>
            <a:pPr algn="l">
              <a:lnSpc>
                <a:spcPts val="2696"/>
              </a:lnSpc>
              <a:spcBef>
                <a:spcPct val="0"/>
              </a:spcBef>
            </a:pPr>
            <a:endParaRPr lang="en-US" sz="2496" b="1">
              <a:solidFill>
                <a:srgbClr val="FFFFFF"/>
              </a:solidFill>
              <a:latin typeface="Poppins Semi-Bold"/>
              <a:ea typeface="Poppins Semi-Bold"/>
              <a:cs typeface="Poppins Semi-Bold"/>
              <a:sym typeface="Poppins Semi-Bold"/>
            </a:endParaRPr>
          </a:p>
        </p:txBody>
      </p:sp>
      <p:sp>
        <p:nvSpPr>
          <p:cNvPr id="23" name="TextBox 23">
            <a:extLst>
              <a:ext uri="{FF2B5EF4-FFF2-40B4-BE49-F238E27FC236}">
                <a16:creationId xmlns:a16="http://schemas.microsoft.com/office/drawing/2014/main" id="{9AB7825C-5503-9745-B5BF-2B3ADEC0477C}"/>
              </a:ext>
            </a:extLst>
          </p:cNvPr>
          <p:cNvSpPr txBox="1"/>
          <p:nvPr/>
        </p:nvSpPr>
        <p:spPr>
          <a:xfrm>
            <a:off x="1655971" y="6226162"/>
            <a:ext cx="4923524" cy="2598172"/>
          </a:xfrm>
          <a:prstGeom prst="rect">
            <a:avLst/>
          </a:prstGeom>
        </p:spPr>
        <p:txBody>
          <a:bodyPr lIns="0" tIns="0" rIns="0" bIns="0" rtlCol="0" anchor="t">
            <a:spAutoFit/>
          </a:bodyPr>
          <a:lstStyle/>
          <a:p>
            <a:pPr algn="just">
              <a:lnSpc>
                <a:spcPts val="2554"/>
              </a:lnSpc>
            </a:pPr>
            <a:r>
              <a:rPr lang="en-US" sz="1864">
                <a:solidFill>
                  <a:srgbClr val="FFFFFF"/>
                </a:solidFill>
                <a:latin typeface="Poppins Light"/>
                <a:ea typeface="Poppins Light"/>
                <a:cs typeface="Poppins Light"/>
                <a:sym typeface="Poppins Light"/>
              </a:rPr>
              <a:t>Liu et al. focused on securing Internet of Things (IoT)*environments, which are notoriously vulnerable due to constrained devices and weak security protocols. Traditional IDS systems often struggle with identifying slow and stealthy attacks in such systems.</a:t>
            </a:r>
          </a:p>
          <a:p>
            <a:pPr algn="just">
              <a:lnSpc>
                <a:spcPts val="2554"/>
              </a:lnSpc>
            </a:pPr>
            <a:endParaRPr lang="en-US" sz="1864">
              <a:solidFill>
                <a:srgbClr val="FFFFFF"/>
              </a:solidFill>
              <a:latin typeface="Poppins Light"/>
              <a:ea typeface="Poppins Light"/>
              <a:cs typeface="Poppins Light"/>
              <a:sym typeface="Poppins Light"/>
            </a:endParaRPr>
          </a:p>
        </p:txBody>
      </p:sp>
      <p:grpSp>
        <p:nvGrpSpPr>
          <p:cNvPr id="24" name="Group 24">
            <a:extLst>
              <a:ext uri="{FF2B5EF4-FFF2-40B4-BE49-F238E27FC236}">
                <a16:creationId xmlns:a16="http://schemas.microsoft.com/office/drawing/2014/main" id="{05C79C03-6AEB-19A3-C120-E9A006E61AD4}"/>
              </a:ext>
            </a:extLst>
          </p:cNvPr>
          <p:cNvGrpSpPr/>
          <p:nvPr/>
        </p:nvGrpSpPr>
        <p:grpSpPr>
          <a:xfrm>
            <a:off x="6817619" y="5058375"/>
            <a:ext cx="392527" cy="392527"/>
            <a:chOff x="0" y="0"/>
            <a:chExt cx="103382" cy="103382"/>
          </a:xfrm>
        </p:grpSpPr>
        <p:sp>
          <p:nvSpPr>
            <p:cNvPr id="25" name="Freeform 25">
              <a:extLst>
                <a:ext uri="{FF2B5EF4-FFF2-40B4-BE49-F238E27FC236}">
                  <a16:creationId xmlns:a16="http://schemas.microsoft.com/office/drawing/2014/main" id="{DBB59369-DCE1-3F04-4219-B4C8F713DD03}"/>
                </a:ext>
              </a:extLst>
            </p:cNvPr>
            <p:cNvSpPr/>
            <p:nvPr/>
          </p:nvSpPr>
          <p:spPr>
            <a:xfrm>
              <a:off x="0" y="0"/>
              <a:ext cx="103382" cy="103382"/>
            </a:xfrm>
            <a:custGeom>
              <a:avLst/>
              <a:gdLst/>
              <a:ahLst/>
              <a:cxnLst/>
              <a:rect l="l" t="t" r="r" b="b"/>
              <a:pathLst>
                <a:path w="103382" h="103382">
                  <a:moveTo>
                    <a:pt x="0" y="0"/>
                  </a:moveTo>
                  <a:lnTo>
                    <a:pt x="103382" y="0"/>
                  </a:lnTo>
                  <a:lnTo>
                    <a:pt x="103382" y="103382"/>
                  </a:lnTo>
                  <a:lnTo>
                    <a:pt x="0" y="103382"/>
                  </a:lnTo>
                  <a:close/>
                </a:path>
              </a:pathLst>
            </a:custGeom>
            <a:gradFill rotWithShape="1">
              <a:gsLst>
                <a:gs pos="0">
                  <a:srgbClr val="FFFFFF">
                    <a:alpha val="63000"/>
                  </a:srgbClr>
                </a:gs>
                <a:gs pos="100000">
                  <a:srgbClr val="FFC1C1">
                    <a:alpha val="1575"/>
                  </a:srgbClr>
                </a:gs>
              </a:gsLst>
              <a:lin ang="0"/>
            </a:gradFill>
          </p:spPr>
        </p:sp>
        <p:sp>
          <p:nvSpPr>
            <p:cNvPr id="26" name="TextBox 26">
              <a:extLst>
                <a:ext uri="{FF2B5EF4-FFF2-40B4-BE49-F238E27FC236}">
                  <a16:creationId xmlns:a16="http://schemas.microsoft.com/office/drawing/2014/main" id="{CCB9A52A-11E2-FF10-8BA6-350425DB096E}"/>
                </a:ext>
              </a:extLst>
            </p:cNvPr>
            <p:cNvSpPr txBox="1"/>
            <p:nvPr/>
          </p:nvSpPr>
          <p:spPr>
            <a:xfrm>
              <a:off x="0" y="0"/>
              <a:ext cx="103382" cy="103382"/>
            </a:xfrm>
            <a:prstGeom prst="rect">
              <a:avLst/>
            </a:prstGeom>
          </p:spPr>
          <p:txBody>
            <a:bodyPr lIns="50800" tIns="50800" rIns="50800" bIns="50800" rtlCol="0" anchor="ctr"/>
            <a:lstStyle/>
            <a:p>
              <a:pPr algn="ctr">
                <a:lnSpc>
                  <a:spcPts val="1917"/>
                </a:lnSpc>
              </a:pPr>
              <a:endParaRPr/>
            </a:p>
          </p:txBody>
        </p:sp>
      </p:grpSp>
      <p:sp>
        <p:nvSpPr>
          <p:cNvPr id="27" name="TextBox 27">
            <a:extLst>
              <a:ext uri="{FF2B5EF4-FFF2-40B4-BE49-F238E27FC236}">
                <a16:creationId xmlns:a16="http://schemas.microsoft.com/office/drawing/2014/main" id="{CEF3D32D-41D7-A4FC-BEF3-9EDC3F2AD9FC}"/>
              </a:ext>
            </a:extLst>
          </p:cNvPr>
          <p:cNvSpPr txBox="1"/>
          <p:nvPr/>
        </p:nvSpPr>
        <p:spPr>
          <a:xfrm>
            <a:off x="7444890" y="4911764"/>
            <a:ext cx="4744341" cy="1028647"/>
          </a:xfrm>
          <a:prstGeom prst="rect">
            <a:avLst/>
          </a:prstGeom>
        </p:spPr>
        <p:txBody>
          <a:bodyPr lIns="0" tIns="0" rIns="0" bIns="0" rtlCol="0" anchor="t">
            <a:spAutoFit/>
          </a:bodyPr>
          <a:lstStyle/>
          <a:p>
            <a:pPr algn="l">
              <a:lnSpc>
                <a:spcPts val="2696"/>
              </a:lnSpc>
              <a:spcBef>
                <a:spcPct val="0"/>
              </a:spcBef>
            </a:pPr>
            <a:r>
              <a:rPr lang="en-US" sz="2496" b="1">
                <a:solidFill>
                  <a:srgbClr val="FFFFFF"/>
                </a:solidFill>
                <a:latin typeface="Poppins Semi-Bold"/>
                <a:ea typeface="Poppins Semi-Bold"/>
                <a:cs typeface="Poppins Semi-Bold"/>
                <a:sym typeface="Poppins Semi-Bold"/>
              </a:rPr>
              <a:t>Goyal (2022) – Bi-LSTM on Blockchain Network Logs</a:t>
            </a:r>
          </a:p>
          <a:p>
            <a:pPr algn="l">
              <a:lnSpc>
                <a:spcPts val="2696"/>
              </a:lnSpc>
              <a:spcBef>
                <a:spcPct val="0"/>
              </a:spcBef>
            </a:pPr>
            <a:endParaRPr lang="en-US" sz="2496" b="1">
              <a:solidFill>
                <a:srgbClr val="FFFFFF"/>
              </a:solidFill>
              <a:latin typeface="Poppins Semi-Bold"/>
              <a:ea typeface="Poppins Semi-Bold"/>
              <a:cs typeface="Poppins Semi-Bold"/>
              <a:sym typeface="Poppins Semi-Bold"/>
            </a:endParaRPr>
          </a:p>
        </p:txBody>
      </p:sp>
      <p:sp>
        <p:nvSpPr>
          <p:cNvPr id="28" name="TextBox 28">
            <a:extLst>
              <a:ext uri="{FF2B5EF4-FFF2-40B4-BE49-F238E27FC236}">
                <a16:creationId xmlns:a16="http://schemas.microsoft.com/office/drawing/2014/main" id="{7F37FC15-CDA6-D17D-532F-706C95D36090}"/>
              </a:ext>
            </a:extLst>
          </p:cNvPr>
          <p:cNvSpPr txBox="1"/>
          <p:nvPr/>
        </p:nvSpPr>
        <p:spPr>
          <a:xfrm>
            <a:off x="7444890" y="6226162"/>
            <a:ext cx="4590117" cy="1950472"/>
          </a:xfrm>
          <a:prstGeom prst="rect">
            <a:avLst/>
          </a:prstGeom>
        </p:spPr>
        <p:txBody>
          <a:bodyPr lIns="0" tIns="0" rIns="0" bIns="0" rtlCol="0" anchor="t">
            <a:spAutoFit/>
          </a:bodyPr>
          <a:lstStyle/>
          <a:p>
            <a:pPr algn="just">
              <a:lnSpc>
                <a:spcPts val="2554"/>
              </a:lnSpc>
            </a:pPr>
            <a:r>
              <a:rPr lang="en-US" sz="1864">
                <a:solidFill>
                  <a:srgbClr val="FFFFFF"/>
                </a:solidFill>
                <a:latin typeface="Poppins Light"/>
                <a:ea typeface="Poppins Light"/>
                <a:cs typeface="Poppins Light"/>
                <a:sym typeface="Poppins Light"/>
              </a:rPr>
              <a:t>Goyal et al. explored how Bi-LSTM models could be leveraged to analyze *blockchain transaction logs* and detect malicious activities, such as double-spending, Sybil attacks, and suspicious smart contract interactions</a:t>
            </a:r>
          </a:p>
        </p:txBody>
      </p:sp>
      <p:grpSp>
        <p:nvGrpSpPr>
          <p:cNvPr id="29" name="Group 29">
            <a:extLst>
              <a:ext uri="{FF2B5EF4-FFF2-40B4-BE49-F238E27FC236}">
                <a16:creationId xmlns:a16="http://schemas.microsoft.com/office/drawing/2014/main" id="{27AB43E2-58AC-9455-023F-0EB760957514}"/>
              </a:ext>
            </a:extLst>
          </p:cNvPr>
          <p:cNvGrpSpPr/>
          <p:nvPr/>
        </p:nvGrpSpPr>
        <p:grpSpPr>
          <a:xfrm>
            <a:off x="12427356" y="5079479"/>
            <a:ext cx="392527" cy="392527"/>
            <a:chOff x="0" y="0"/>
            <a:chExt cx="103382" cy="103382"/>
          </a:xfrm>
        </p:grpSpPr>
        <p:sp>
          <p:nvSpPr>
            <p:cNvPr id="30" name="Freeform 30">
              <a:extLst>
                <a:ext uri="{FF2B5EF4-FFF2-40B4-BE49-F238E27FC236}">
                  <a16:creationId xmlns:a16="http://schemas.microsoft.com/office/drawing/2014/main" id="{1DAE42C7-8A67-F836-CE23-A431BAD13EF3}"/>
                </a:ext>
              </a:extLst>
            </p:cNvPr>
            <p:cNvSpPr/>
            <p:nvPr/>
          </p:nvSpPr>
          <p:spPr>
            <a:xfrm>
              <a:off x="0" y="0"/>
              <a:ext cx="103382" cy="103382"/>
            </a:xfrm>
            <a:custGeom>
              <a:avLst/>
              <a:gdLst/>
              <a:ahLst/>
              <a:cxnLst/>
              <a:rect l="l" t="t" r="r" b="b"/>
              <a:pathLst>
                <a:path w="103382" h="103382">
                  <a:moveTo>
                    <a:pt x="0" y="0"/>
                  </a:moveTo>
                  <a:lnTo>
                    <a:pt x="103382" y="0"/>
                  </a:lnTo>
                  <a:lnTo>
                    <a:pt x="103382" y="103382"/>
                  </a:lnTo>
                  <a:lnTo>
                    <a:pt x="0" y="103382"/>
                  </a:lnTo>
                  <a:close/>
                </a:path>
              </a:pathLst>
            </a:custGeom>
            <a:gradFill rotWithShape="1">
              <a:gsLst>
                <a:gs pos="0">
                  <a:srgbClr val="FFFFFF">
                    <a:alpha val="63000"/>
                  </a:srgbClr>
                </a:gs>
                <a:gs pos="100000">
                  <a:srgbClr val="FFC1C1">
                    <a:alpha val="1575"/>
                  </a:srgbClr>
                </a:gs>
              </a:gsLst>
              <a:lin ang="0"/>
            </a:gradFill>
          </p:spPr>
        </p:sp>
        <p:sp>
          <p:nvSpPr>
            <p:cNvPr id="31" name="TextBox 31">
              <a:extLst>
                <a:ext uri="{FF2B5EF4-FFF2-40B4-BE49-F238E27FC236}">
                  <a16:creationId xmlns:a16="http://schemas.microsoft.com/office/drawing/2014/main" id="{13F2EC23-5C97-B10C-4CC7-78F90A4FB689}"/>
                </a:ext>
              </a:extLst>
            </p:cNvPr>
            <p:cNvSpPr txBox="1"/>
            <p:nvPr/>
          </p:nvSpPr>
          <p:spPr>
            <a:xfrm>
              <a:off x="0" y="0"/>
              <a:ext cx="103382" cy="103382"/>
            </a:xfrm>
            <a:prstGeom prst="rect">
              <a:avLst/>
            </a:prstGeom>
          </p:spPr>
          <p:txBody>
            <a:bodyPr lIns="50800" tIns="50800" rIns="50800" bIns="50800" rtlCol="0" anchor="ctr"/>
            <a:lstStyle/>
            <a:p>
              <a:pPr algn="ctr">
                <a:lnSpc>
                  <a:spcPts val="1917"/>
                </a:lnSpc>
              </a:pPr>
              <a:endParaRPr/>
            </a:p>
          </p:txBody>
        </p:sp>
      </p:grpSp>
      <p:sp>
        <p:nvSpPr>
          <p:cNvPr id="32" name="TextBox 32">
            <a:extLst>
              <a:ext uri="{FF2B5EF4-FFF2-40B4-BE49-F238E27FC236}">
                <a16:creationId xmlns:a16="http://schemas.microsoft.com/office/drawing/2014/main" id="{1496D075-68DA-6E6F-5E95-C46D6DCCE65F}"/>
              </a:ext>
            </a:extLst>
          </p:cNvPr>
          <p:cNvSpPr txBox="1"/>
          <p:nvPr/>
        </p:nvSpPr>
        <p:spPr>
          <a:xfrm>
            <a:off x="13054626" y="4911764"/>
            <a:ext cx="4590117" cy="1362022"/>
          </a:xfrm>
          <a:prstGeom prst="rect">
            <a:avLst/>
          </a:prstGeom>
        </p:spPr>
        <p:txBody>
          <a:bodyPr lIns="0" tIns="0" rIns="0" bIns="0" rtlCol="0" anchor="t">
            <a:spAutoFit/>
          </a:bodyPr>
          <a:lstStyle/>
          <a:p>
            <a:pPr algn="l">
              <a:lnSpc>
                <a:spcPts val="2696"/>
              </a:lnSpc>
            </a:pPr>
            <a:r>
              <a:rPr lang="en-US" sz="2496" b="1">
                <a:solidFill>
                  <a:srgbClr val="FFFFFF"/>
                </a:solidFill>
                <a:latin typeface="Poppins Semi-Bold"/>
                <a:ea typeface="Poppins Semi-Bold"/>
                <a:cs typeface="Poppins Semi-Bold"/>
                <a:sym typeface="Poppins Semi-Bold"/>
              </a:rPr>
              <a:t>Rauf et al. (2020)* – Distributed IDS using Multi-Agent Systems</a:t>
            </a:r>
          </a:p>
          <a:p>
            <a:pPr algn="l">
              <a:lnSpc>
                <a:spcPts val="2696"/>
              </a:lnSpc>
              <a:spcBef>
                <a:spcPct val="0"/>
              </a:spcBef>
            </a:pPr>
            <a:endParaRPr lang="en-US" sz="2496" b="1">
              <a:solidFill>
                <a:srgbClr val="FFFFFF"/>
              </a:solidFill>
              <a:latin typeface="Poppins Semi-Bold"/>
              <a:ea typeface="Poppins Semi-Bold"/>
              <a:cs typeface="Poppins Semi-Bold"/>
              <a:sym typeface="Poppins Semi-Bold"/>
            </a:endParaRPr>
          </a:p>
        </p:txBody>
      </p:sp>
      <p:sp>
        <p:nvSpPr>
          <p:cNvPr id="33" name="TextBox 33">
            <a:extLst>
              <a:ext uri="{FF2B5EF4-FFF2-40B4-BE49-F238E27FC236}">
                <a16:creationId xmlns:a16="http://schemas.microsoft.com/office/drawing/2014/main" id="{E9A29919-7A55-1852-C8B7-FFA2C39B1061}"/>
              </a:ext>
            </a:extLst>
          </p:cNvPr>
          <p:cNvSpPr txBox="1"/>
          <p:nvPr/>
        </p:nvSpPr>
        <p:spPr>
          <a:xfrm>
            <a:off x="13054626" y="6226162"/>
            <a:ext cx="4590117" cy="2274322"/>
          </a:xfrm>
          <a:prstGeom prst="rect">
            <a:avLst/>
          </a:prstGeom>
        </p:spPr>
        <p:txBody>
          <a:bodyPr lIns="0" tIns="0" rIns="0" bIns="0" rtlCol="0" anchor="t">
            <a:spAutoFit/>
          </a:bodyPr>
          <a:lstStyle/>
          <a:p>
            <a:pPr algn="just">
              <a:lnSpc>
                <a:spcPts val="2554"/>
              </a:lnSpc>
            </a:pPr>
            <a:r>
              <a:rPr lang="en-US" sz="1864">
                <a:solidFill>
                  <a:srgbClr val="FFFFFF"/>
                </a:solidFill>
                <a:latin typeface="Poppins Light"/>
                <a:ea typeface="Poppins Light"/>
                <a:cs typeface="Poppins Light"/>
                <a:sym typeface="Poppins Light"/>
              </a:rPr>
              <a:t>Rauf et al. addressed the limitations of centralized IDS by proposing a *multi-agent system (MAS)* architecture tailored for distributed networks, such as peer-to-peer (P2P) or blockchain-based platforms.</a:t>
            </a:r>
          </a:p>
          <a:p>
            <a:pPr algn="just">
              <a:lnSpc>
                <a:spcPts val="2554"/>
              </a:lnSpc>
            </a:pPr>
            <a:endParaRPr lang="en-US" sz="1864">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086859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5555" b="-5555"/>
            </a:stretch>
          </a:blipFill>
        </p:spPr>
      </p:sp>
      <p:grpSp>
        <p:nvGrpSpPr>
          <p:cNvPr id="3" name="Group 3"/>
          <p:cNvGrpSpPr/>
          <p:nvPr/>
        </p:nvGrpSpPr>
        <p:grpSpPr>
          <a:xfrm>
            <a:off x="862708" y="795954"/>
            <a:ext cx="331984" cy="202810"/>
            <a:chOff x="0" y="0"/>
            <a:chExt cx="442646" cy="270414"/>
          </a:xfrm>
        </p:grpSpPr>
        <p:grpSp>
          <p:nvGrpSpPr>
            <p:cNvPr id="4" name="Group 4"/>
            <p:cNvGrpSpPr/>
            <p:nvPr/>
          </p:nvGrpSpPr>
          <p:grpSpPr>
            <a:xfrm>
              <a:off x="0" y="0"/>
              <a:ext cx="442646" cy="63500"/>
              <a:chOff x="0" y="0"/>
              <a:chExt cx="87436" cy="12543"/>
            </a:xfrm>
          </p:grpSpPr>
          <p:sp>
            <p:nvSpPr>
              <p:cNvPr id="5" name="Freeform 5"/>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6" name="TextBox 6"/>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7" name="Group 7"/>
            <p:cNvGrpSpPr/>
            <p:nvPr/>
          </p:nvGrpSpPr>
          <p:grpSpPr>
            <a:xfrm>
              <a:off x="0" y="105314"/>
              <a:ext cx="442646" cy="63500"/>
              <a:chOff x="0" y="0"/>
              <a:chExt cx="87436" cy="12543"/>
            </a:xfrm>
          </p:grpSpPr>
          <p:sp>
            <p:nvSpPr>
              <p:cNvPr id="8" name="Freeform 8"/>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9" name="TextBox 9"/>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nvGrpSpPr>
            <p:cNvPr id="10" name="Group 10"/>
            <p:cNvGrpSpPr/>
            <p:nvPr/>
          </p:nvGrpSpPr>
          <p:grpSpPr>
            <a:xfrm>
              <a:off x="0" y="206914"/>
              <a:ext cx="442646" cy="63500"/>
              <a:chOff x="0" y="0"/>
              <a:chExt cx="87436" cy="12543"/>
            </a:xfrm>
          </p:grpSpPr>
          <p:sp>
            <p:nvSpPr>
              <p:cNvPr id="11" name="Freeform 11"/>
              <p:cNvSpPr/>
              <p:nvPr/>
            </p:nvSpPr>
            <p:spPr>
              <a:xfrm>
                <a:off x="0" y="0"/>
                <a:ext cx="87436" cy="12543"/>
              </a:xfrm>
              <a:custGeom>
                <a:avLst/>
                <a:gdLst/>
                <a:ahLst/>
                <a:cxnLst/>
                <a:rect l="l" t="t" r="r" b="b"/>
                <a:pathLst>
                  <a:path w="87436" h="12543">
                    <a:moveTo>
                      <a:pt x="0" y="0"/>
                    </a:moveTo>
                    <a:lnTo>
                      <a:pt x="87436" y="0"/>
                    </a:lnTo>
                    <a:lnTo>
                      <a:pt x="87436" y="12543"/>
                    </a:lnTo>
                    <a:lnTo>
                      <a:pt x="0" y="12543"/>
                    </a:lnTo>
                    <a:close/>
                  </a:path>
                </a:pathLst>
              </a:custGeom>
              <a:solidFill>
                <a:srgbClr val="FFFFFF"/>
              </a:solidFill>
            </p:spPr>
          </p:sp>
          <p:sp>
            <p:nvSpPr>
              <p:cNvPr id="12" name="TextBox 12"/>
              <p:cNvSpPr txBox="1"/>
              <p:nvPr/>
            </p:nvSpPr>
            <p:spPr>
              <a:xfrm>
                <a:off x="0" y="0"/>
                <a:ext cx="87436" cy="12543"/>
              </a:xfrm>
              <a:prstGeom prst="rect">
                <a:avLst/>
              </a:prstGeom>
            </p:spPr>
            <p:txBody>
              <a:bodyPr lIns="50800" tIns="50800" rIns="50800" bIns="50800" rtlCol="0" anchor="ctr"/>
              <a:lstStyle/>
              <a:p>
                <a:pPr algn="ctr">
                  <a:lnSpc>
                    <a:spcPts val="1917"/>
                  </a:lnSpc>
                </a:pPr>
                <a:endParaRPr/>
              </a:p>
            </p:txBody>
          </p:sp>
        </p:grpSp>
      </p:grpSp>
      <p:sp>
        <p:nvSpPr>
          <p:cNvPr id="13" name="Freeform 13"/>
          <p:cNvSpPr/>
          <p:nvPr/>
        </p:nvSpPr>
        <p:spPr>
          <a:xfrm>
            <a:off x="16927006" y="746082"/>
            <a:ext cx="332294" cy="302554"/>
          </a:xfrm>
          <a:custGeom>
            <a:avLst/>
            <a:gdLst/>
            <a:ahLst/>
            <a:cxnLst/>
            <a:rect l="l" t="t" r="r" b="b"/>
            <a:pathLst>
              <a:path w="332294" h="302554">
                <a:moveTo>
                  <a:pt x="0" y="0"/>
                </a:moveTo>
                <a:lnTo>
                  <a:pt x="332294" y="0"/>
                </a:lnTo>
                <a:lnTo>
                  <a:pt x="332294" y="302554"/>
                </a:lnTo>
                <a:lnTo>
                  <a:pt x="0" y="30255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1391939" y="859732"/>
            <a:ext cx="623313" cy="139032"/>
          </a:xfrm>
          <a:prstGeom prst="rect">
            <a:avLst/>
          </a:prstGeom>
        </p:spPr>
        <p:txBody>
          <a:bodyPr lIns="0" tIns="0" rIns="0" bIns="0" rtlCol="0" anchor="t">
            <a:spAutoFit/>
          </a:bodyPr>
          <a:lstStyle/>
          <a:p>
            <a:pPr algn="l">
              <a:lnSpc>
                <a:spcPts val="1077"/>
              </a:lnSpc>
              <a:spcBef>
                <a:spcPct val="0"/>
              </a:spcBef>
            </a:pPr>
            <a:r>
              <a:rPr lang="en-US" sz="997">
                <a:solidFill>
                  <a:srgbClr val="FFFFFF"/>
                </a:solidFill>
                <a:latin typeface="Poppins Light"/>
                <a:ea typeface="Poppins Light"/>
                <a:cs typeface="Poppins Light"/>
                <a:sym typeface="Poppins Light"/>
              </a:rPr>
              <a:t>PAGE 10</a:t>
            </a:r>
          </a:p>
        </p:txBody>
      </p:sp>
      <p:sp>
        <p:nvSpPr>
          <p:cNvPr id="15" name="TextBox 15"/>
          <p:cNvSpPr txBox="1"/>
          <p:nvPr/>
        </p:nvSpPr>
        <p:spPr>
          <a:xfrm>
            <a:off x="3945369" y="7705006"/>
            <a:ext cx="11030402" cy="913310"/>
          </a:xfrm>
          <a:prstGeom prst="rect">
            <a:avLst/>
          </a:prstGeom>
        </p:spPr>
        <p:txBody>
          <a:bodyPr lIns="0" tIns="0" rIns="0" bIns="0" rtlCol="0" anchor="t">
            <a:spAutoFit/>
          </a:bodyPr>
          <a:lstStyle/>
          <a:p>
            <a:pPr algn="ctr">
              <a:lnSpc>
                <a:spcPts val="6947"/>
              </a:lnSpc>
            </a:pPr>
            <a:r>
              <a:rPr lang="en-US" sz="6433" spc="810">
                <a:solidFill>
                  <a:srgbClr val="FFFFFF"/>
                </a:solidFill>
                <a:latin typeface="HK Modular"/>
                <a:ea typeface="HK Modular"/>
                <a:cs typeface="HK Modular"/>
                <a:sym typeface="HK Modular"/>
              </a:rPr>
              <a:t>thanks</a:t>
            </a:r>
          </a:p>
        </p:txBody>
      </p:sp>
      <p:sp>
        <p:nvSpPr>
          <p:cNvPr id="16" name="TextBox 16"/>
          <p:cNvSpPr txBox="1"/>
          <p:nvPr/>
        </p:nvSpPr>
        <p:spPr>
          <a:xfrm>
            <a:off x="3545648" y="991161"/>
            <a:ext cx="11030402" cy="913310"/>
          </a:xfrm>
          <a:prstGeom prst="rect">
            <a:avLst/>
          </a:prstGeom>
        </p:spPr>
        <p:txBody>
          <a:bodyPr lIns="0" tIns="0" rIns="0" bIns="0" rtlCol="0" anchor="t">
            <a:spAutoFit/>
          </a:bodyPr>
          <a:lstStyle/>
          <a:p>
            <a:pPr algn="ctr">
              <a:lnSpc>
                <a:spcPts val="6947"/>
              </a:lnSpc>
            </a:pPr>
            <a:r>
              <a:rPr lang="en-US" sz="6433" spc="810">
                <a:solidFill>
                  <a:srgbClr val="FFFFFF"/>
                </a:solidFill>
                <a:latin typeface="HK Modular"/>
                <a:ea typeface="HK Modular"/>
                <a:cs typeface="HK Modular"/>
                <a:sym typeface="HK Modular"/>
              </a:rPr>
              <a:t>references</a:t>
            </a:r>
          </a:p>
        </p:txBody>
      </p:sp>
      <p:sp>
        <p:nvSpPr>
          <p:cNvPr id="17" name="TextBox 17"/>
          <p:cNvSpPr txBox="1"/>
          <p:nvPr/>
        </p:nvSpPr>
        <p:spPr>
          <a:xfrm>
            <a:off x="1194692" y="2336263"/>
            <a:ext cx="16531755" cy="5045083"/>
          </a:xfrm>
          <a:prstGeom prst="rect">
            <a:avLst/>
          </a:prstGeom>
        </p:spPr>
        <p:txBody>
          <a:bodyPr lIns="0" tIns="0" rIns="0" bIns="0" rtlCol="0" anchor="t">
            <a:spAutoFit/>
          </a:bodyPr>
          <a:lstStyle/>
          <a:p>
            <a:pPr algn="l">
              <a:lnSpc>
                <a:spcPts val="2662"/>
              </a:lnSpc>
            </a:pPr>
            <a:r>
              <a:rPr lang="en-US" sz="1943">
                <a:solidFill>
                  <a:srgbClr val="FFFFFF"/>
                </a:solidFill>
                <a:latin typeface="Poppins Light"/>
                <a:ea typeface="Poppins Light"/>
                <a:cs typeface="Poppins Light"/>
                <a:sym typeface="Poppins Light"/>
              </a:rPr>
              <a:t>Bajpai SA, Patankar AB. Self-configuring intrusion detection using adaptive goal target optimization based deep Bi-LSTM in blockchain networking systems. Intelligent Decision Technologies. 2025;19(1):175-193. doi:</a:t>
            </a:r>
            <a:r>
              <a:rPr lang="en-US" sz="1943" u="sng">
                <a:solidFill>
                  <a:srgbClr val="FFFFFF"/>
                </a:solidFill>
                <a:latin typeface="Poppins Light"/>
                <a:ea typeface="Poppins Light"/>
                <a:cs typeface="Poppins Light"/>
                <a:sym typeface="Poppins Light"/>
                <a:hlinkClick r:id="rId4" tooltip="https://doi.org/10.1177/18724981251330736"/>
              </a:rPr>
              <a:t>10.1177/18724981251330736</a:t>
            </a:r>
          </a:p>
          <a:p>
            <a:pPr algn="l">
              <a:lnSpc>
                <a:spcPts val="2662"/>
              </a:lnSpc>
            </a:pPr>
            <a:endParaRPr lang="en-US" sz="1943" u="sng">
              <a:solidFill>
                <a:srgbClr val="FFFFFF"/>
              </a:solidFill>
              <a:latin typeface="Poppins Light"/>
              <a:ea typeface="Poppins Light"/>
              <a:cs typeface="Poppins Light"/>
              <a:sym typeface="Poppins Light"/>
              <a:hlinkClick r:id="rId4" tooltip="https://doi.org/10.1177/18724981251330736"/>
            </a:endParaRPr>
          </a:p>
          <a:p>
            <a:pPr algn="l">
              <a:lnSpc>
                <a:spcPts val="2662"/>
              </a:lnSpc>
            </a:pPr>
            <a:r>
              <a:rPr lang="en-US" sz="1943">
                <a:solidFill>
                  <a:srgbClr val="FFFFFF"/>
                </a:solidFill>
                <a:latin typeface="Poppins Light"/>
                <a:ea typeface="Poppins Light"/>
                <a:cs typeface="Poppins Light"/>
                <a:sym typeface="Poppins Light"/>
              </a:rPr>
              <a:t>M. Kumar and A. K. Singh, "Distributed Intrusion Detection System using Blockchain and Cloud Computing Infrastructure," 2020 4th International Conference on Trends in Electronics and Informatics (ICOEI)(48184), Tirunelveli, India, 2020, pp. 248-252, doi: 10.1109/ICOEI48184.2020.9142954.</a:t>
            </a:r>
          </a:p>
          <a:p>
            <a:pPr algn="l">
              <a:lnSpc>
                <a:spcPts val="2662"/>
              </a:lnSpc>
            </a:pPr>
            <a:endParaRPr lang="en-US" sz="1943">
              <a:solidFill>
                <a:srgbClr val="FFFFFF"/>
              </a:solidFill>
              <a:latin typeface="Poppins Light"/>
              <a:ea typeface="Poppins Light"/>
              <a:cs typeface="Poppins Light"/>
              <a:sym typeface="Poppins Light"/>
            </a:endParaRPr>
          </a:p>
          <a:p>
            <a:pPr algn="l">
              <a:lnSpc>
                <a:spcPts val="2662"/>
              </a:lnSpc>
            </a:pPr>
            <a:r>
              <a:rPr lang="en-US" sz="1943">
                <a:solidFill>
                  <a:srgbClr val="FFFFFF"/>
                </a:solidFill>
                <a:latin typeface="Poppins Light"/>
                <a:ea typeface="Poppins Light"/>
                <a:cs typeface="Poppins Light"/>
                <a:sym typeface="Poppins Light"/>
              </a:rPr>
              <a:t>V. Tomar and P. S. Mehra, "Deep Learning Bi-LSTM Model for Intrusion Detection in IoT," 2023 5th International Conference on Advances in Computing, Communication Control and Networking (ICAC3N), Greater Noida, India, 2023, pp. 1342-1347, doi: 10.1109/ICAC3N60023.2023.10541673. </a:t>
            </a:r>
          </a:p>
          <a:p>
            <a:pPr algn="l">
              <a:lnSpc>
                <a:spcPts val="2662"/>
              </a:lnSpc>
            </a:pPr>
            <a:endParaRPr lang="en-US" sz="1943">
              <a:solidFill>
                <a:srgbClr val="FFFFFF"/>
              </a:solidFill>
              <a:latin typeface="Poppins Light"/>
              <a:ea typeface="Poppins Light"/>
              <a:cs typeface="Poppins Light"/>
              <a:sym typeface="Poppins Light"/>
            </a:endParaRPr>
          </a:p>
          <a:p>
            <a:pPr algn="l">
              <a:lnSpc>
                <a:spcPts val="2662"/>
              </a:lnSpc>
            </a:pPr>
            <a:r>
              <a:rPr lang="en-US" sz="1943">
                <a:solidFill>
                  <a:srgbClr val="FFFFFF"/>
                </a:solidFill>
                <a:latin typeface="Poppins Light"/>
                <a:ea typeface="Poppins Light"/>
                <a:cs typeface="Poppins Light"/>
                <a:sym typeface="Poppins Light"/>
              </a:rPr>
              <a:t>K. RadhaKrishna, C. R. Babu, D. Abraham, P. K. Abhilash, H. M. Abbas and N. M, "Cyber Resilience in Smart Cities Using Bi-LSTM-Based Intrusion Detection System," 2025 International Conference on Computational Innovations and Engineering Sustainability (ICCIES), Coimbatore, Tamilnadu, India, 2025, pp. 1-7, doi: 10.1109/ICCIES63851.2025.11033050.</a:t>
            </a:r>
          </a:p>
          <a:p>
            <a:pPr algn="l">
              <a:lnSpc>
                <a:spcPts val="2662"/>
              </a:lnSpc>
            </a:pPr>
            <a:endParaRPr lang="en-US" sz="1943">
              <a:solidFill>
                <a:srgbClr val="FFFFFF"/>
              </a:solidFill>
              <a:latin typeface="Poppins Light"/>
              <a:ea typeface="Poppins Light"/>
              <a:cs typeface="Poppins Light"/>
              <a:sym typeface="Poppins Ligh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TotalTime>
  <Words>1049</Words>
  <Application>Microsoft Office PowerPoint</Application>
  <PresentationFormat>Custom</PresentationFormat>
  <Paragraphs>124</Paragraphs>
  <Slides>13</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Poppins Light</vt:lpstr>
      <vt:lpstr>Poppins</vt:lpstr>
      <vt:lpstr>Calibri</vt:lpstr>
      <vt:lpstr>HK Modular</vt:lpstr>
      <vt:lpstr>Poppins Semi-Bold</vt:lpstr>
      <vt:lpstr>Poppins Bold</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presentation</dc:title>
  <cp:lastModifiedBy>GAURESH BAGAYATKAR</cp:lastModifiedBy>
  <cp:revision>13</cp:revision>
  <dcterms:created xsi:type="dcterms:W3CDTF">2006-08-16T00:00:00Z</dcterms:created>
  <dcterms:modified xsi:type="dcterms:W3CDTF">2026-04-25T07:09:59Z</dcterms:modified>
  <dc:identifier>DAGtxzxgIhM</dc:identifier>
</cp:coreProperties>
</file>